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roxima Nova Condensed Bold" panose="020B0604020202020204" charset="0"/>
      <p:regular r:id="rId12"/>
    </p:embeddedFont>
    <p:embeddedFont>
      <p:font typeface="Touvlo" panose="020B0604020202020204" charset="0"/>
      <p:regular r:id="rId13"/>
    </p:embeddedFont>
    <p:embeddedFont>
      <p:font typeface="Touvlo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7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362950" y="361950"/>
            <a:ext cx="1562100" cy="18288000"/>
            <a:chOff x="0" y="0"/>
            <a:chExt cx="411417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1417" cy="4816592"/>
            </a:xfrm>
            <a:custGeom>
              <a:avLst/>
              <a:gdLst/>
              <a:ahLst/>
              <a:cxnLst/>
              <a:rect l="l" t="t" r="r" b="b"/>
              <a:pathLst>
                <a:path w="411417" h="4816592">
                  <a:moveTo>
                    <a:pt x="0" y="0"/>
                  </a:moveTo>
                  <a:lnTo>
                    <a:pt x="411417" y="0"/>
                  </a:lnTo>
                  <a:lnTo>
                    <a:pt x="41141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DBE6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42875"/>
              <a:ext cx="411417" cy="4673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765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0"/>
            <a:ext cx="8991600" cy="8724900"/>
            <a:chOff x="0" y="0"/>
            <a:chExt cx="1035548" cy="10048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5548" cy="1004833"/>
            </a:xfrm>
            <a:custGeom>
              <a:avLst/>
              <a:gdLst/>
              <a:ahLst/>
              <a:cxnLst/>
              <a:rect l="l" t="t" r="r" b="b"/>
              <a:pathLst>
                <a:path w="1035548" h="1004833">
                  <a:moveTo>
                    <a:pt x="0" y="0"/>
                  </a:moveTo>
                  <a:lnTo>
                    <a:pt x="1035548" y="0"/>
                  </a:lnTo>
                  <a:lnTo>
                    <a:pt x="1035548" y="1004833"/>
                  </a:lnTo>
                  <a:lnTo>
                    <a:pt x="0" y="1004833"/>
                  </a:lnTo>
                  <a:close/>
                </a:path>
              </a:pathLst>
            </a:custGeom>
            <a:blipFill>
              <a:blip r:embed="rId2"/>
              <a:stretch>
                <a:fillRect l="-276" r="-2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75300" y="1208722"/>
            <a:ext cx="8324850" cy="4925445"/>
            <a:chOff x="0" y="0"/>
            <a:chExt cx="11099800" cy="6567260"/>
          </a:xfrm>
        </p:grpSpPr>
        <p:sp>
          <p:nvSpPr>
            <p:cNvPr id="8" name="TextBox 8"/>
            <p:cNvSpPr txBox="1"/>
            <p:nvPr/>
          </p:nvSpPr>
          <p:spPr>
            <a:xfrm>
              <a:off x="0" y="209550"/>
              <a:ext cx="11099800" cy="54419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r>
                <a:rPr lang="en-US" sz="10499" b="1">
                  <a:solidFill>
                    <a:srgbClr val="7196D7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ElectViz: Election Data Visualization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911940"/>
              <a:ext cx="11088400" cy="655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47"/>
                </a:lnSpc>
              </a:pPr>
              <a:r>
                <a:rPr lang="en-US" sz="2962">
                  <a:solidFill>
                    <a:srgbClr val="7196D7"/>
                  </a:solidFill>
                  <a:latin typeface="Touvlo"/>
                  <a:ea typeface="Touvlo"/>
                  <a:cs typeface="Touvlo"/>
                  <a:sym typeface="Touvlo"/>
                </a:rPr>
                <a:t>for Media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0608" y="9177477"/>
            <a:ext cx="4766355" cy="787766"/>
            <a:chOff x="0" y="0"/>
            <a:chExt cx="6355140" cy="105035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534895"/>
              <a:ext cx="6355140" cy="515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24"/>
                </a:lnSpc>
                <a:spcBef>
                  <a:spcPct val="0"/>
                </a:spcBef>
              </a:pPr>
              <a:r>
                <a:rPr lang="en-US" sz="2374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Infosys Team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6355140" cy="668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10"/>
                </a:lnSpc>
                <a:spcBef>
                  <a:spcPct val="0"/>
                </a:spcBef>
              </a:pPr>
              <a:r>
                <a:rPr lang="en-US" sz="3078" b="1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PRESENTED TO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931252" y="9124400"/>
            <a:ext cx="4689998" cy="763997"/>
            <a:chOff x="0" y="0"/>
            <a:chExt cx="6253330" cy="101866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504127"/>
              <a:ext cx="6253330" cy="514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321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K.Srilakshmi Sowjanya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6253330" cy="664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14"/>
                </a:lnSpc>
                <a:spcBef>
                  <a:spcPct val="0"/>
                </a:spcBef>
              </a:pPr>
              <a:r>
                <a:rPr lang="en-US" sz="3010" b="1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PRESENTED BY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6750" y="9120050"/>
            <a:ext cx="495645" cy="576750"/>
            <a:chOff x="0" y="0"/>
            <a:chExt cx="6985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B3D9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71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666750"/>
            <a:ext cx="8324850" cy="7162800"/>
            <a:chOff x="0" y="0"/>
            <a:chExt cx="1287005" cy="110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7005" cy="1107355"/>
            </a:xfrm>
            <a:custGeom>
              <a:avLst/>
              <a:gdLst/>
              <a:ahLst/>
              <a:cxnLst/>
              <a:rect l="l" t="t" r="r" b="b"/>
              <a:pathLst>
                <a:path w="1287005" h="110735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r="-24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09333" cy="67820"/>
            </a:xfrm>
            <a:custGeom>
              <a:avLst/>
              <a:gdLst/>
              <a:ahLst/>
              <a:cxnLst/>
              <a:rect l="l" t="t" r="r" b="b"/>
              <a:pathLst>
                <a:path w="2709333" h="67820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134A9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709333" cy="86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076960"/>
            <a:ext cx="6886575" cy="112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0B3D91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Objective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96400" y="8104822"/>
            <a:ext cx="7913050" cy="739775"/>
            <a:chOff x="0" y="0"/>
            <a:chExt cx="10550733" cy="986367"/>
          </a:xfrm>
        </p:grpSpPr>
        <p:sp>
          <p:nvSpPr>
            <p:cNvPr id="9" name="TextBox 9"/>
            <p:cNvSpPr txBox="1"/>
            <p:nvPr/>
          </p:nvSpPr>
          <p:spPr>
            <a:xfrm>
              <a:off x="0" y="-66675"/>
              <a:ext cx="10550733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PURPOSE OF REAL-TIME VISUALIZATION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28557"/>
              <a:ext cx="10550733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 u="none" strike="noStrike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ElectViz aims to provide efficient, </a:t>
              </a:r>
              <a:r>
                <a:rPr lang="en-US" sz="1200" b="1" u="none" strike="noStrike">
                  <a:solidFill>
                    <a:srgbClr val="134A9E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data-driven insights</a:t>
              </a:r>
              <a:r>
                <a:rPr lang="en-US" sz="1200" u="none" strike="noStrike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 for media.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57505" y="3216909"/>
            <a:ext cx="9038895" cy="477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776" lvl="1" indent="-324388" algn="ctr">
              <a:lnSpc>
                <a:spcPts val="4206"/>
              </a:lnSpc>
              <a:spcBef>
                <a:spcPct val="0"/>
              </a:spcBef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To develop a real-time, interactive election data visualization system using Power BI.</a:t>
            </a:r>
          </a:p>
          <a:p>
            <a:pPr marL="648776" lvl="1" indent="-324388" algn="ctr">
              <a:lnSpc>
                <a:spcPts val="4206"/>
              </a:lnSpc>
              <a:spcBef>
                <a:spcPct val="0"/>
              </a:spcBef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To provide media organizations and analysts with comprehensive insights on election outcomes.</a:t>
            </a:r>
          </a:p>
          <a:p>
            <a:pPr marL="648776" lvl="1" indent="-324388" algn="ctr">
              <a:lnSpc>
                <a:spcPts val="4206"/>
              </a:lnSpc>
              <a:spcBef>
                <a:spcPct val="0"/>
              </a:spcBef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To enhance understanding of voter demographics, candidate performance, and party-wise statistics.</a:t>
            </a:r>
          </a:p>
          <a:p>
            <a:pPr algn="ctr">
              <a:lnSpc>
                <a:spcPts val="4206"/>
              </a:lnSpc>
              <a:spcBef>
                <a:spcPct val="0"/>
              </a:spcBef>
            </a:pPr>
            <a:endParaRPr lang="en-US" sz="3004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666750"/>
            <a:ext cx="8324850" cy="7162800"/>
            <a:chOff x="0" y="0"/>
            <a:chExt cx="1287005" cy="110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7005" cy="1107355"/>
            </a:xfrm>
            <a:custGeom>
              <a:avLst/>
              <a:gdLst/>
              <a:ahLst/>
              <a:cxnLst/>
              <a:rect l="l" t="t" r="r" b="b"/>
              <a:pathLst>
                <a:path w="1287005" h="110735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r="-24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09333" cy="67820"/>
            </a:xfrm>
            <a:custGeom>
              <a:avLst/>
              <a:gdLst/>
              <a:ahLst/>
              <a:cxnLst/>
              <a:rect l="l" t="t" r="r" b="b"/>
              <a:pathLst>
                <a:path w="2709333" h="67820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134A9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838200"/>
            <a:ext cx="6886575" cy="219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0B3D91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Problem Statement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96400" y="8104822"/>
            <a:ext cx="7913050" cy="895350"/>
            <a:chOff x="0" y="0"/>
            <a:chExt cx="10550733" cy="11938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66675"/>
              <a:ext cx="10550733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CHALLENGES IN CURRENT REPORTING METHODS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09507"/>
              <a:ext cx="10550733" cy="484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 u="none" strike="noStrike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Many reports lack </a:t>
              </a:r>
              <a:r>
                <a:rPr lang="en-US" sz="2200" b="1" u="none" strike="noStrike">
                  <a:solidFill>
                    <a:srgbClr val="134A9E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interactivity and real-time insights</a:t>
              </a:r>
              <a:r>
                <a:rPr lang="en-US" sz="2200" u="none" strike="noStrike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57505" y="3514233"/>
            <a:ext cx="7926101" cy="4160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430" lvl="1" indent="-318715" algn="ctr">
              <a:lnSpc>
                <a:spcPts val="4133"/>
              </a:lnSpc>
              <a:spcBef>
                <a:spcPct val="0"/>
              </a:spcBef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Traditional election reporting lacks visual depth and interactivity.</a:t>
            </a:r>
          </a:p>
          <a:p>
            <a:pPr marL="637430" lvl="1" indent="-318715" algn="ctr">
              <a:lnSpc>
                <a:spcPts val="4133"/>
              </a:lnSpc>
              <a:spcBef>
                <a:spcPct val="0"/>
              </a:spcBef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Manual data analysis is time-consuming and prone to errors.</a:t>
            </a:r>
          </a:p>
          <a:p>
            <a:pPr marL="637430" lvl="1" indent="-318715" algn="ctr">
              <a:lnSpc>
                <a:spcPts val="4133"/>
              </a:lnSpc>
              <a:spcBef>
                <a:spcPct val="0"/>
              </a:spcBef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Difficulty in interpreting large datasets such as candidate details, vote shares, and regional variations.</a:t>
            </a:r>
          </a:p>
          <a:p>
            <a:pPr algn="ctr">
              <a:lnSpc>
                <a:spcPts val="4133"/>
              </a:lnSpc>
              <a:spcBef>
                <a:spcPct val="0"/>
              </a:spcBef>
            </a:pPr>
            <a:endParaRPr lang="en-US" sz="2952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0989" y="2066036"/>
            <a:ext cx="11959517" cy="6154929"/>
          </a:xfrm>
          <a:custGeom>
            <a:avLst/>
            <a:gdLst/>
            <a:ahLst/>
            <a:cxnLst/>
            <a:rect l="l" t="t" r="r" b="b"/>
            <a:pathLst>
              <a:path w="11959517" h="6154929">
                <a:moveTo>
                  <a:pt x="0" y="0"/>
                </a:moveTo>
                <a:lnTo>
                  <a:pt x="11959517" y="0"/>
                </a:lnTo>
                <a:lnTo>
                  <a:pt x="11959517" y="6154928"/>
                </a:lnTo>
                <a:lnTo>
                  <a:pt x="0" y="6154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718" r="-659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4079" y="365489"/>
            <a:ext cx="5448300" cy="219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0B3D91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ElectViz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3114" y="2505439"/>
            <a:ext cx="7372578" cy="69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ctr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ElectViz automates the visualization of complex election data.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Integrates multiple data sources to provide unified dashboards.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Offers visual insights like: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State-wise and party-wise winner distribution.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Gender, age, and education demographics.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Correlation between candidate wealth and criminal records.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Voting patterns by type and constituency.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229" y="-34014"/>
            <a:ext cx="8265129" cy="857758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296400" y="8686800"/>
            <a:ext cx="832485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</a:pPr>
            <a:r>
              <a:rPr lang="en-US" sz="2199" spc="-21">
                <a:solidFill>
                  <a:srgbClr val="134A9E"/>
                </a:solidFill>
                <a:latin typeface="Touvlo"/>
                <a:ea typeface="Touvlo"/>
                <a:cs typeface="Touvlo"/>
                <a:sym typeface="Touvlo"/>
              </a:rPr>
              <a:t>Interactive data visualization enhances election analysis.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-1214437" y="1214437"/>
            <a:ext cx="10287000" cy="7858125"/>
            <a:chOff x="0" y="0"/>
            <a:chExt cx="2709333" cy="20696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09333" cy="2069630"/>
            </a:xfrm>
            <a:custGeom>
              <a:avLst/>
              <a:gdLst/>
              <a:ahLst/>
              <a:cxnLst/>
              <a:rect l="l" t="t" r="r" b="b"/>
              <a:pathLst>
                <a:path w="2709333" h="2069630">
                  <a:moveTo>
                    <a:pt x="0" y="0"/>
                  </a:moveTo>
                  <a:lnTo>
                    <a:pt x="2709333" y="0"/>
                  </a:lnTo>
                  <a:lnTo>
                    <a:pt x="2709333" y="2069630"/>
                  </a:lnTo>
                  <a:lnTo>
                    <a:pt x="0" y="2069630"/>
                  </a:lnTo>
                  <a:close/>
                </a:path>
              </a:pathLst>
            </a:custGeom>
            <a:solidFill>
              <a:srgbClr val="8DB1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709333" cy="2126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838200"/>
            <a:ext cx="5448300" cy="112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0B3D91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Key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1901824"/>
            <a:ext cx="6776392" cy="741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Total Candidates: 2263 | Total Winners: 539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Average Age: 52.27 | Average Assets: ₹133.3M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Top States: Uttar Pradesh, Maharashtra, West Bengal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Party Performance: BJP secured the most seats.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Demographics: 85.9% male and 14.1% female winners.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Education: Majority are graduates and postgraduates.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Correlation: Wealthier candidates often face more criminal cases.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196D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838200"/>
            <a:ext cx="5448300" cy="219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0B3D91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Advantages of ElectViz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296400" y="1562100"/>
            <a:ext cx="6886575" cy="1466836"/>
            <a:chOff x="0" y="0"/>
            <a:chExt cx="9182100" cy="1955782"/>
          </a:xfrm>
        </p:grpSpPr>
        <p:sp>
          <p:nvSpPr>
            <p:cNvPr id="7" name="TextBox 7"/>
            <p:cNvSpPr txBox="1"/>
            <p:nvPr/>
          </p:nvSpPr>
          <p:spPr>
            <a:xfrm>
              <a:off x="0" y="-6667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SIMPLIFICATION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72658"/>
              <a:ext cx="9182100" cy="1283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ElectViz provides </a:t>
              </a:r>
              <a:r>
                <a:rPr lang="en-US" sz="2799" b="1">
                  <a:solidFill>
                    <a:srgbClr val="134A9E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user-friendly</a:t>
              </a: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 analytics for easy understanding.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4248150"/>
            <a:ext cx="6886575" cy="1462392"/>
            <a:chOff x="0" y="0"/>
            <a:chExt cx="9182100" cy="194985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6667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SPEED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66732"/>
              <a:ext cx="9182100" cy="1283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Users can access insights </a:t>
              </a:r>
              <a:r>
                <a:rPr lang="en-US" sz="2799" b="1">
                  <a:solidFill>
                    <a:srgbClr val="134A9E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quickly</a:t>
              </a: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, enhancing decision-making efficiency.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6929755"/>
            <a:ext cx="6886575" cy="1462392"/>
            <a:chOff x="0" y="0"/>
            <a:chExt cx="9182100" cy="194985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6667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REAL-TIME UPDATES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66732"/>
              <a:ext cx="9182100" cy="1283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Stay informed with </a:t>
              </a:r>
              <a:r>
                <a:rPr lang="en-US" sz="2799" b="1">
                  <a:solidFill>
                    <a:srgbClr val="134A9E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live data</a:t>
              </a: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, reflecting the latest trends.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0" y="3948417"/>
            <a:ext cx="7858125" cy="444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Simplifies complex election data through interactive visuals.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Enables quick comparison across states, parties, and demographics.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Enhances accuracy and decision-making for journalists and analysts.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Provides dynamic filtering and real-time updates.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67820"/>
            </a:xfrm>
            <a:custGeom>
              <a:avLst/>
              <a:gdLst/>
              <a:ahLst/>
              <a:cxnLst/>
              <a:rect l="l" t="t" r="r" b="b"/>
              <a:pathLst>
                <a:path w="2709333" h="67820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134A9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331561" y="1312862"/>
            <a:ext cx="10804040" cy="5502310"/>
          </a:xfrm>
          <a:custGeom>
            <a:avLst/>
            <a:gdLst/>
            <a:ahLst/>
            <a:cxnLst/>
            <a:rect l="l" t="t" r="r" b="b"/>
            <a:pathLst>
              <a:path w="11301259" h="5502310">
                <a:moveTo>
                  <a:pt x="0" y="0"/>
                </a:moveTo>
                <a:lnTo>
                  <a:pt x="11301259" y="0"/>
                </a:lnTo>
                <a:lnTo>
                  <a:pt x="11301259" y="5502310"/>
                </a:lnTo>
                <a:lnTo>
                  <a:pt x="0" y="5502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916" r="-1491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6750" y="838200"/>
            <a:ext cx="6886575" cy="112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0B3D91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Disadvantages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296400" y="8104822"/>
            <a:ext cx="7913050" cy="895350"/>
            <a:chOff x="0" y="0"/>
            <a:chExt cx="10550733" cy="1193800"/>
          </a:xfrm>
        </p:grpSpPr>
        <p:sp>
          <p:nvSpPr>
            <p:cNvPr id="8" name="TextBox 8"/>
            <p:cNvSpPr txBox="1"/>
            <p:nvPr/>
          </p:nvSpPr>
          <p:spPr>
            <a:xfrm>
              <a:off x="0" y="-66675"/>
              <a:ext cx="10550733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DATA DEPENDENCY IN ELECTVIZ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09507"/>
              <a:ext cx="10550733" cy="484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 u="none" strike="noStrike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ElectViz relies heavily on accurate data quality.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10361" y="3140710"/>
            <a:ext cx="7553325" cy="394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Relies heavily on data accuracy from external sources.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Performance may lag with very large datasets.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Limited offline functionality.</a:t>
            </a:r>
          </a:p>
          <a:p>
            <a:pPr marL="604518" lvl="1" indent="-302259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Requires user training to interpret complex visuals.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196D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just">
                <a:lnSpc>
                  <a:spcPts val="42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838200"/>
            <a:ext cx="5448300" cy="219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0B3D91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Challenges Faced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296400" y="1562100"/>
            <a:ext cx="6886575" cy="1466836"/>
            <a:chOff x="0" y="0"/>
            <a:chExt cx="9182100" cy="1955782"/>
          </a:xfrm>
        </p:grpSpPr>
        <p:sp>
          <p:nvSpPr>
            <p:cNvPr id="7" name="TextBox 7"/>
            <p:cNvSpPr txBox="1"/>
            <p:nvPr/>
          </p:nvSpPr>
          <p:spPr>
            <a:xfrm>
              <a:off x="0" y="-6667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DATA CLEANING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72658"/>
              <a:ext cx="9182100" cy="1283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Ensuring accuracy required extensive </a:t>
              </a:r>
              <a:r>
                <a:rPr lang="en-US" sz="2799" b="1">
                  <a:solidFill>
                    <a:srgbClr val="134A9E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data cleansing efforts</a:t>
              </a: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4248150"/>
            <a:ext cx="6886575" cy="1462392"/>
            <a:chOff x="0" y="0"/>
            <a:chExt cx="9182100" cy="194985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6667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MODEL BUILDING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66732"/>
              <a:ext cx="9182100" cy="1283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Developing effective models took significant </a:t>
              </a:r>
              <a:r>
                <a:rPr lang="en-US" sz="2799" b="1">
                  <a:solidFill>
                    <a:srgbClr val="134A9E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time and resources</a:t>
              </a: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6929755"/>
            <a:ext cx="6886575" cy="1462392"/>
            <a:chOff x="0" y="0"/>
            <a:chExt cx="9182100" cy="194985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6667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VISUALIZATION DESIGN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66732"/>
              <a:ext cx="9182100" cy="1283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Crafting intuitive designs posed unique </a:t>
              </a:r>
              <a:r>
                <a:rPr lang="en-US" sz="2799" b="1">
                  <a:solidFill>
                    <a:srgbClr val="134A9E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usability challenges</a:t>
              </a: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3613698"/>
            <a:ext cx="6440680" cy="493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Data cleaning and transformation for consistency.</a:t>
            </a:r>
          </a:p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Managing large datasets and Power BI performance optimization.</a:t>
            </a:r>
          </a:p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Designing clear and clutter-free visuals.</a:t>
            </a:r>
          </a:p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Balancing aesthetics with analytical depth.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196D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5712508"/>
            <a:ext cx="7753408" cy="4249425"/>
          </a:xfrm>
          <a:custGeom>
            <a:avLst/>
            <a:gdLst/>
            <a:ahLst/>
            <a:cxnLst/>
            <a:rect l="l" t="t" r="r" b="b"/>
            <a:pathLst>
              <a:path w="7753408" h="4249425">
                <a:moveTo>
                  <a:pt x="0" y="0"/>
                </a:moveTo>
                <a:lnTo>
                  <a:pt x="7753408" y="0"/>
                </a:lnTo>
                <a:lnTo>
                  <a:pt x="7753408" y="4249425"/>
                </a:lnTo>
                <a:lnTo>
                  <a:pt x="0" y="424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11" r="-11747" b="-4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6750" y="838200"/>
            <a:ext cx="5448300" cy="3273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0B3D91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Learnings from Internship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296400" y="1562100"/>
            <a:ext cx="6886575" cy="1466836"/>
            <a:chOff x="0" y="0"/>
            <a:chExt cx="9182100" cy="1955782"/>
          </a:xfrm>
        </p:grpSpPr>
        <p:sp>
          <p:nvSpPr>
            <p:cNvPr id="8" name="TextBox 8"/>
            <p:cNvSpPr txBox="1"/>
            <p:nvPr/>
          </p:nvSpPr>
          <p:spPr>
            <a:xfrm>
              <a:off x="0" y="-6667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POWER BI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72658"/>
              <a:ext cx="9182100" cy="1283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Gained expertise in </a:t>
              </a:r>
              <a:r>
                <a:rPr lang="en-US" sz="2799" b="1">
                  <a:solidFill>
                    <a:srgbClr val="134A9E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data visualization</a:t>
              </a: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 and reporting tools.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96400" y="4248150"/>
            <a:ext cx="6886575" cy="1462392"/>
            <a:chOff x="0" y="0"/>
            <a:chExt cx="9182100" cy="194985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6667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DATA MODELING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66732"/>
              <a:ext cx="9182100" cy="1283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Developed skills in </a:t>
              </a:r>
              <a:r>
                <a:rPr lang="en-US" sz="2799" b="1">
                  <a:solidFill>
                    <a:srgbClr val="134A9E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structuring and organizing</a:t>
              </a: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 data effectively.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96400" y="6929755"/>
            <a:ext cx="6886575" cy="1462392"/>
            <a:chOff x="0" y="0"/>
            <a:chExt cx="9182100" cy="194985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66675"/>
              <a:ext cx="91821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134A9E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STORYTELLING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66732"/>
              <a:ext cx="9182100" cy="1283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Learned to communicate insights through </a:t>
              </a:r>
              <a:r>
                <a:rPr lang="en-US" sz="2799" b="1">
                  <a:solidFill>
                    <a:srgbClr val="134A9E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compelling narratives</a:t>
              </a:r>
              <a:r>
                <a:rPr lang="en-US" sz="2799">
                  <a:solidFill>
                    <a:srgbClr val="134A9E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182292" cy="11660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2292" cy="1166096"/>
            </a:xfrm>
            <a:custGeom>
              <a:avLst/>
              <a:gdLst/>
              <a:ahLst/>
              <a:cxnLst/>
              <a:rect l="l" t="t" r="r" b="b"/>
              <a:pathLst>
                <a:path w="1182292" h="1166096">
                  <a:moveTo>
                    <a:pt x="0" y="0"/>
                  </a:moveTo>
                  <a:lnTo>
                    <a:pt x="1182292" y="0"/>
                  </a:lnTo>
                  <a:lnTo>
                    <a:pt x="1182292" y="1166096"/>
                  </a:lnTo>
                  <a:lnTo>
                    <a:pt x="0" y="1166096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987147" y="4163856"/>
            <a:ext cx="14046511" cy="2283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137"/>
              </a:lnSpc>
            </a:pPr>
            <a:r>
              <a:rPr lang="en-US" sz="17137" b="1">
                <a:solidFill>
                  <a:srgbClr val="0B3D91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Microsoft Office PowerPoint</Application>
  <PresentationFormat>Custom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Touvlo Bold</vt:lpstr>
      <vt:lpstr>Calibri</vt:lpstr>
      <vt:lpstr>Arial</vt:lpstr>
      <vt:lpstr>Touvlo</vt:lpstr>
      <vt:lpstr>Proxima Nova 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ElectViz: Election Data Visualization</dc:title>
  <dc:creator>KONAKANDLA SANJAY KUMAR</dc:creator>
  <dc:description>Presentation - ElectViz: Election Data Visualization</dc:description>
  <cp:lastModifiedBy>KONAKANDLA SANJAY KUMAR</cp:lastModifiedBy>
  <cp:revision>2</cp:revision>
  <dcterms:created xsi:type="dcterms:W3CDTF">2006-08-16T00:00:00Z</dcterms:created>
  <dcterms:modified xsi:type="dcterms:W3CDTF">2025-10-31T11:03:36Z</dcterms:modified>
  <dc:identifier>DAG3WmJ-WmU</dc:identifier>
</cp:coreProperties>
</file>