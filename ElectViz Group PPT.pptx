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9" r:id="rId1"/>
  </p:sldMasterIdLst>
  <p:notesMasterIdLst>
    <p:notesMasterId r:id="rId16"/>
  </p:notesMasterIdLst>
  <p:sldIdLst>
    <p:sldId id="256" r:id="rId2"/>
    <p:sldId id="257" r:id="rId3"/>
    <p:sldId id="258" r:id="rId4"/>
    <p:sldId id="259" r:id="rId5"/>
    <p:sldId id="260" r:id="rId6"/>
    <p:sldId id="261" r:id="rId7"/>
    <p:sldId id="262" r:id="rId8"/>
    <p:sldId id="269" r:id="rId9"/>
    <p:sldId id="263" r:id="rId10"/>
    <p:sldId id="264" r:id="rId11"/>
    <p:sldId id="265" r:id="rId12"/>
    <p:sldId id="266" r:id="rId13"/>
    <p:sldId id="267" r:id="rId14"/>
    <p:sldId id="268"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1EB746-096B-4FF5-A6E9-08E7AD849133}" v="31" dt="2025-11-03T14:21:22.8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73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l Srivastava" userId="d3a02ca0156b2808" providerId="LiveId" clId="{7F7547DE-3636-44E9-8969-7AD423854008}"/>
    <pc:docChg chg="undo custSel addSld modSld">
      <pc:chgData name="Anil Srivastava" userId="d3a02ca0156b2808" providerId="LiveId" clId="{7F7547DE-3636-44E9-8969-7AD423854008}" dt="2025-11-03T14:50:20.465" v="688" actId="1076"/>
      <pc:docMkLst>
        <pc:docMk/>
      </pc:docMkLst>
      <pc:sldChg chg="modSp mod chgLayout">
        <pc:chgData name="Anil Srivastava" userId="d3a02ca0156b2808" providerId="LiveId" clId="{7F7547DE-3636-44E9-8969-7AD423854008}" dt="2025-11-03T14:28:26.571" v="579" actId="1076"/>
        <pc:sldMkLst>
          <pc:docMk/>
          <pc:sldMk cId="0" sldId="256"/>
        </pc:sldMkLst>
        <pc:spChg chg="mod ord">
          <ac:chgData name="Anil Srivastava" userId="d3a02ca0156b2808" providerId="LiveId" clId="{7F7547DE-3636-44E9-8969-7AD423854008}" dt="2025-11-03T14:26:43.673" v="565" actId="115"/>
          <ac:spMkLst>
            <pc:docMk/>
            <pc:sldMk cId="0" sldId="256"/>
            <ac:spMk id="2" creationId="{00000000-0000-0000-0000-000000000000}"/>
          </ac:spMkLst>
        </pc:spChg>
        <pc:spChg chg="mod ord">
          <ac:chgData name="Anil Srivastava" userId="d3a02ca0156b2808" providerId="LiveId" clId="{7F7547DE-3636-44E9-8969-7AD423854008}" dt="2025-11-03T14:28:26.571" v="579" actId="1076"/>
          <ac:spMkLst>
            <pc:docMk/>
            <pc:sldMk cId="0" sldId="256"/>
            <ac:spMk id="3" creationId="{00000000-0000-0000-0000-000000000000}"/>
          </ac:spMkLst>
        </pc:spChg>
      </pc:sldChg>
      <pc:sldChg chg="modSp mod">
        <pc:chgData name="Anil Srivastava" userId="d3a02ca0156b2808" providerId="LiveId" clId="{7F7547DE-3636-44E9-8969-7AD423854008}" dt="2025-11-03T14:28:38.419" v="581" actId="14100"/>
        <pc:sldMkLst>
          <pc:docMk/>
          <pc:sldMk cId="0" sldId="257"/>
        </pc:sldMkLst>
        <pc:spChg chg="mod">
          <ac:chgData name="Anil Srivastava" userId="d3a02ca0156b2808" providerId="LiveId" clId="{7F7547DE-3636-44E9-8969-7AD423854008}" dt="2025-11-03T14:27:12.260" v="570" actId="115"/>
          <ac:spMkLst>
            <pc:docMk/>
            <pc:sldMk cId="0" sldId="257"/>
            <ac:spMk id="2" creationId="{00000000-0000-0000-0000-000000000000}"/>
          </ac:spMkLst>
        </pc:spChg>
        <pc:spChg chg="mod">
          <ac:chgData name="Anil Srivastava" userId="d3a02ca0156b2808" providerId="LiveId" clId="{7F7547DE-3636-44E9-8969-7AD423854008}" dt="2025-11-03T14:28:38.419" v="581" actId="14100"/>
          <ac:spMkLst>
            <pc:docMk/>
            <pc:sldMk cId="0" sldId="257"/>
            <ac:spMk id="3" creationId="{00000000-0000-0000-0000-000000000000}"/>
          </ac:spMkLst>
        </pc:spChg>
      </pc:sldChg>
      <pc:sldChg chg="modSp mod">
        <pc:chgData name="Anil Srivastava" userId="d3a02ca0156b2808" providerId="LiveId" clId="{7F7547DE-3636-44E9-8969-7AD423854008}" dt="2025-11-03T14:29:08.303" v="586" actId="14100"/>
        <pc:sldMkLst>
          <pc:docMk/>
          <pc:sldMk cId="0" sldId="258"/>
        </pc:sldMkLst>
        <pc:spChg chg="mod">
          <ac:chgData name="Anil Srivastava" userId="d3a02ca0156b2808" providerId="LiveId" clId="{7F7547DE-3636-44E9-8969-7AD423854008}" dt="2025-11-03T14:29:08.303" v="586" actId="14100"/>
          <ac:spMkLst>
            <pc:docMk/>
            <pc:sldMk cId="0" sldId="258"/>
            <ac:spMk id="2" creationId="{00000000-0000-0000-0000-000000000000}"/>
          </ac:spMkLst>
        </pc:spChg>
        <pc:spChg chg="mod">
          <ac:chgData name="Anil Srivastava" userId="d3a02ca0156b2808" providerId="LiveId" clId="{7F7547DE-3636-44E9-8969-7AD423854008}" dt="2025-11-03T14:21:23.033" v="526" actId="27636"/>
          <ac:spMkLst>
            <pc:docMk/>
            <pc:sldMk cId="0" sldId="258"/>
            <ac:spMk id="3" creationId="{00000000-0000-0000-0000-000000000000}"/>
          </ac:spMkLst>
        </pc:spChg>
      </pc:sldChg>
      <pc:sldChg chg="modSp mod">
        <pc:chgData name="Anil Srivastava" userId="d3a02ca0156b2808" providerId="LiveId" clId="{7F7547DE-3636-44E9-8969-7AD423854008}" dt="2025-11-03T14:29:37.908" v="591" actId="115"/>
        <pc:sldMkLst>
          <pc:docMk/>
          <pc:sldMk cId="0" sldId="259"/>
        </pc:sldMkLst>
        <pc:spChg chg="mod">
          <ac:chgData name="Anil Srivastava" userId="d3a02ca0156b2808" providerId="LiveId" clId="{7F7547DE-3636-44E9-8969-7AD423854008}" dt="2025-11-03T14:29:37.908" v="591" actId="115"/>
          <ac:spMkLst>
            <pc:docMk/>
            <pc:sldMk cId="0" sldId="259"/>
            <ac:spMk id="2" creationId="{00000000-0000-0000-0000-000000000000}"/>
          </ac:spMkLst>
        </pc:spChg>
        <pc:spChg chg="mod">
          <ac:chgData name="Anil Srivastava" userId="d3a02ca0156b2808" providerId="LiveId" clId="{7F7547DE-3636-44E9-8969-7AD423854008}" dt="2025-11-03T14:21:22.812" v="523"/>
          <ac:spMkLst>
            <pc:docMk/>
            <pc:sldMk cId="0" sldId="259"/>
            <ac:spMk id="3" creationId="{00000000-0000-0000-0000-000000000000}"/>
          </ac:spMkLst>
        </pc:spChg>
      </pc:sldChg>
      <pc:sldChg chg="addSp delSp modSp mod">
        <pc:chgData name="Anil Srivastava" userId="d3a02ca0156b2808" providerId="LiveId" clId="{7F7547DE-3636-44E9-8969-7AD423854008}" dt="2025-11-03T14:30:12.818" v="596" actId="255"/>
        <pc:sldMkLst>
          <pc:docMk/>
          <pc:sldMk cId="0" sldId="260"/>
        </pc:sldMkLst>
        <pc:spChg chg="mod">
          <ac:chgData name="Anil Srivastava" userId="d3a02ca0156b2808" providerId="LiveId" clId="{7F7547DE-3636-44E9-8969-7AD423854008}" dt="2025-11-03T14:29:52.741" v="594" actId="115"/>
          <ac:spMkLst>
            <pc:docMk/>
            <pc:sldMk cId="0" sldId="260"/>
            <ac:spMk id="2" creationId="{00000000-0000-0000-0000-000000000000}"/>
          </ac:spMkLst>
        </pc:spChg>
        <pc:graphicFrameChg chg="add mod modGraphic">
          <ac:chgData name="Anil Srivastava" userId="d3a02ca0156b2808" providerId="LiveId" clId="{7F7547DE-3636-44E9-8969-7AD423854008}" dt="2025-11-03T14:30:12.818" v="596" actId="255"/>
          <ac:graphicFrameMkLst>
            <pc:docMk/>
            <pc:sldMk cId="0" sldId="260"/>
            <ac:graphicFrameMk id="4" creationId="{E534CD9E-3495-2CD9-0431-022B4CC1AF5D}"/>
          </ac:graphicFrameMkLst>
        </pc:graphicFrameChg>
      </pc:sldChg>
      <pc:sldChg chg="modSp mod">
        <pc:chgData name="Anil Srivastava" userId="d3a02ca0156b2808" providerId="LiveId" clId="{7F7547DE-3636-44E9-8969-7AD423854008}" dt="2025-11-03T14:30:36.232" v="599" actId="115"/>
        <pc:sldMkLst>
          <pc:docMk/>
          <pc:sldMk cId="0" sldId="261"/>
        </pc:sldMkLst>
        <pc:spChg chg="mod">
          <ac:chgData name="Anil Srivastava" userId="d3a02ca0156b2808" providerId="LiveId" clId="{7F7547DE-3636-44E9-8969-7AD423854008}" dt="2025-11-03T14:30:36.232" v="599" actId="115"/>
          <ac:spMkLst>
            <pc:docMk/>
            <pc:sldMk cId="0" sldId="261"/>
            <ac:spMk id="2" creationId="{00000000-0000-0000-0000-000000000000}"/>
          </ac:spMkLst>
        </pc:spChg>
        <pc:spChg chg="mod">
          <ac:chgData name="Anil Srivastava" userId="d3a02ca0156b2808" providerId="LiveId" clId="{7F7547DE-3636-44E9-8969-7AD423854008}" dt="2025-11-03T14:21:23.033" v="527" actId="27636"/>
          <ac:spMkLst>
            <pc:docMk/>
            <pc:sldMk cId="0" sldId="261"/>
            <ac:spMk id="3" creationId="{00000000-0000-0000-0000-000000000000}"/>
          </ac:spMkLst>
        </pc:spChg>
      </pc:sldChg>
      <pc:sldChg chg="modSp mod">
        <pc:chgData name="Anil Srivastava" userId="d3a02ca0156b2808" providerId="LiveId" clId="{7F7547DE-3636-44E9-8969-7AD423854008}" dt="2025-11-03T14:30:54.026" v="602" actId="115"/>
        <pc:sldMkLst>
          <pc:docMk/>
          <pc:sldMk cId="0" sldId="262"/>
        </pc:sldMkLst>
        <pc:spChg chg="mod">
          <ac:chgData name="Anil Srivastava" userId="d3a02ca0156b2808" providerId="LiveId" clId="{7F7547DE-3636-44E9-8969-7AD423854008}" dt="2025-11-03T14:30:54.026" v="602" actId="115"/>
          <ac:spMkLst>
            <pc:docMk/>
            <pc:sldMk cId="0" sldId="262"/>
            <ac:spMk id="2" creationId="{00000000-0000-0000-0000-000000000000}"/>
          </ac:spMkLst>
        </pc:spChg>
        <pc:spChg chg="mod">
          <ac:chgData name="Anil Srivastava" userId="d3a02ca0156b2808" providerId="LiveId" clId="{7F7547DE-3636-44E9-8969-7AD423854008}" dt="2025-11-03T14:21:23.049" v="528" actId="27636"/>
          <ac:spMkLst>
            <pc:docMk/>
            <pc:sldMk cId="0" sldId="262"/>
            <ac:spMk id="3" creationId="{00000000-0000-0000-0000-000000000000}"/>
          </ac:spMkLst>
        </pc:spChg>
      </pc:sldChg>
      <pc:sldChg chg="addSp delSp modSp mod">
        <pc:chgData name="Anil Srivastava" userId="d3a02ca0156b2808" providerId="LiveId" clId="{7F7547DE-3636-44E9-8969-7AD423854008}" dt="2025-11-03T14:49:03.517" v="671" actId="1076"/>
        <pc:sldMkLst>
          <pc:docMk/>
          <pc:sldMk cId="0" sldId="263"/>
        </pc:sldMkLst>
        <pc:spChg chg="mod">
          <ac:chgData name="Anil Srivastava" userId="d3a02ca0156b2808" providerId="LiveId" clId="{7F7547DE-3636-44E9-8969-7AD423854008}" dt="2025-11-03T14:48:44.677" v="669" actId="115"/>
          <ac:spMkLst>
            <pc:docMk/>
            <pc:sldMk cId="0" sldId="263"/>
            <ac:spMk id="2" creationId="{00000000-0000-0000-0000-000000000000}"/>
          </ac:spMkLst>
        </pc:spChg>
        <pc:graphicFrameChg chg="add mod modGraphic">
          <ac:chgData name="Anil Srivastava" userId="d3a02ca0156b2808" providerId="LiveId" clId="{7F7547DE-3636-44E9-8969-7AD423854008}" dt="2025-11-03T14:49:03.517" v="671" actId="1076"/>
          <ac:graphicFrameMkLst>
            <pc:docMk/>
            <pc:sldMk cId="0" sldId="263"/>
            <ac:graphicFrameMk id="4" creationId="{7FCA51F8-D221-18E7-CCB9-8179B5BD89FC}"/>
          </ac:graphicFrameMkLst>
        </pc:graphicFrameChg>
      </pc:sldChg>
      <pc:sldChg chg="modSp mod">
        <pc:chgData name="Anil Srivastava" userId="d3a02ca0156b2808" providerId="LiveId" clId="{7F7547DE-3636-44E9-8969-7AD423854008}" dt="2025-11-03T14:49:13.990" v="674" actId="1076"/>
        <pc:sldMkLst>
          <pc:docMk/>
          <pc:sldMk cId="0" sldId="264"/>
        </pc:sldMkLst>
        <pc:spChg chg="mod">
          <ac:chgData name="Anil Srivastava" userId="d3a02ca0156b2808" providerId="LiveId" clId="{7F7547DE-3636-44E9-8969-7AD423854008}" dt="2025-11-03T14:49:13.990" v="674" actId="1076"/>
          <ac:spMkLst>
            <pc:docMk/>
            <pc:sldMk cId="0" sldId="264"/>
            <ac:spMk id="2" creationId="{00000000-0000-0000-0000-000000000000}"/>
          </ac:spMkLst>
        </pc:spChg>
        <pc:spChg chg="mod">
          <ac:chgData name="Anil Srivastava" userId="d3a02ca0156b2808" providerId="LiveId" clId="{7F7547DE-3636-44E9-8969-7AD423854008}" dt="2025-11-03T14:21:23.081" v="530" actId="27636"/>
          <ac:spMkLst>
            <pc:docMk/>
            <pc:sldMk cId="0" sldId="264"/>
            <ac:spMk id="3" creationId="{00000000-0000-0000-0000-000000000000}"/>
          </ac:spMkLst>
        </pc:spChg>
      </pc:sldChg>
      <pc:sldChg chg="modSp mod">
        <pc:chgData name="Anil Srivastava" userId="d3a02ca0156b2808" providerId="LiveId" clId="{7F7547DE-3636-44E9-8969-7AD423854008}" dt="2025-11-03T14:49:26.751" v="677" actId="1076"/>
        <pc:sldMkLst>
          <pc:docMk/>
          <pc:sldMk cId="0" sldId="265"/>
        </pc:sldMkLst>
        <pc:spChg chg="mod">
          <ac:chgData name="Anil Srivastava" userId="d3a02ca0156b2808" providerId="LiveId" clId="{7F7547DE-3636-44E9-8969-7AD423854008}" dt="2025-11-03T14:49:26.751" v="677" actId="1076"/>
          <ac:spMkLst>
            <pc:docMk/>
            <pc:sldMk cId="0" sldId="265"/>
            <ac:spMk id="2" creationId="{00000000-0000-0000-0000-000000000000}"/>
          </ac:spMkLst>
        </pc:spChg>
        <pc:spChg chg="mod">
          <ac:chgData name="Anil Srivastava" userId="d3a02ca0156b2808" providerId="LiveId" clId="{7F7547DE-3636-44E9-8969-7AD423854008}" dt="2025-11-03T14:21:23.097" v="531" actId="27636"/>
          <ac:spMkLst>
            <pc:docMk/>
            <pc:sldMk cId="0" sldId="265"/>
            <ac:spMk id="3" creationId="{00000000-0000-0000-0000-000000000000}"/>
          </ac:spMkLst>
        </pc:spChg>
      </pc:sldChg>
      <pc:sldChg chg="modSp mod">
        <pc:chgData name="Anil Srivastava" userId="d3a02ca0156b2808" providerId="LiveId" clId="{7F7547DE-3636-44E9-8969-7AD423854008}" dt="2025-11-03T14:49:40.927" v="681" actId="1076"/>
        <pc:sldMkLst>
          <pc:docMk/>
          <pc:sldMk cId="0" sldId="266"/>
        </pc:sldMkLst>
        <pc:spChg chg="mod">
          <ac:chgData name="Anil Srivastava" userId="d3a02ca0156b2808" providerId="LiveId" clId="{7F7547DE-3636-44E9-8969-7AD423854008}" dt="2025-11-03T14:49:40.927" v="681" actId="1076"/>
          <ac:spMkLst>
            <pc:docMk/>
            <pc:sldMk cId="0" sldId="266"/>
            <ac:spMk id="2" creationId="{00000000-0000-0000-0000-000000000000}"/>
          </ac:spMkLst>
        </pc:spChg>
        <pc:spChg chg="mod">
          <ac:chgData name="Anil Srivastava" userId="d3a02ca0156b2808" providerId="LiveId" clId="{7F7547DE-3636-44E9-8969-7AD423854008}" dt="2025-11-03T14:21:23.097" v="532" actId="27636"/>
          <ac:spMkLst>
            <pc:docMk/>
            <pc:sldMk cId="0" sldId="266"/>
            <ac:spMk id="3" creationId="{00000000-0000-0000-0000-000000000000}"/>
          </ac:spMkLst>
        </pc:spChg>
      </pc:sldChg>
      <pc:sldChg chg="modSp mod">
        <pc:chgData name="Anil Srivastava" userId="d3a02ca0156b2808" providerId="LiveId" clId="{7F7547DE-3636-44E9-8969-7AD423854008}" dt="2025-11-03T14:49:55.137" v="684" actId="115"/>
        <pc:sldMkLst>
          <pc:docMk/>
          <pc:sldMk cId="0" sldId="267"/>
        </pc:sldMkLst>
        <pc:spChg chg="mod">
          <ac:chgData name="Anil Srivastava" userId="d3a02ca0156b2808" providerId="LiveId" clId="{7F7547DE-3636-44E9-8969-7AD423854008}" dt="2025-11-03T14:49:55.137" v="684" actId="115"/>
          <ac:spMkLst>
            <pc:docMk/>
            <pc:sldMk cId="0" sldId="267"/>
            <ac:spMk id="2" creationId="{00000000-0000-0000-0000-000000000000}"/>
          </ac:spMkLst>
        </pc:spChg>
        <pc:spChg chg="mod">
          <ac:chgData name="Anil Srivastava" userId="d3a02ca0156b2808" providerId="LiveId" clId="{7F7547DE-3636-44E9-8969-7AD423854008}" dt="2025-11-03T14:21:22.812" v="523"/>
          <ac:spMkLst>
            <pc:docMk/>
            <pc:sldMk cId="0" sldId="267"/>
            <ac:spMk id="3" creationId="{00000000-0000-0000-0000-000000000000}"/>
          </ac:spMkLst>
        </pc:spChg>
      </pc:sldChg>
      <pc:sldChg chg="modSp mod">
        <pc:chgData name="Anil Srivastava" userId="d3a02ca0156b2808" providerId="LiveId" clId="{7F7547DE-3636-44E9-8969-7AD423854008}" dt="2025-11-03T14:50:20.465" v="688" actId="1076"/>
        <pc:sldMkLst>
          <pc:docMk/>
          <pc:sldMk cId="0" sldId="268"/>
        </pc:sldMkLst>
        <pc:spChg chg="mod">
          <ac:chgData name="Anil Srivastava" userId="d3a02ca0156b2808" providerId="LiveId" clId="{7F7547DE-3636-44E9-8969-7AD423854008}" dt="2025-11-03T14:50:06.805" v="687" actId="1076"/>
          <ac:spMkLst>
            <pc:docMk/>
            <pc:sldMk cId="0" sldId="268"/>
            <ac:spMk id="2" creationId="{00000000-0000-0000-0000-000000000000}"/>
          </ac:spMkLst>
        </pc:spChg>
        <pc:spChg chg="mod">
          <ac:chgData name="Anil Srivastava" userId="d3a02ca0156b2808" providerId="LiveId" clId="{7F7547DE-3636-44E9-8969-7AD423854008}" dt="2025-11-03T14:50:20.465" v="688" actId="1076"/>
          <ac:spMkLst>
            <pc:docMk/>
            <pc:sldMk cId="0" sldId="268"/>
            <ac:spMk id="3" creationId="{00000000-0000-0000-0000-000000000000}"/>
          </ac:spMkLst>
        </pc:spChg>
      </pc:sldChg>
      <pc:sldChg chg="addSp delSp modSp add mod">
        <pc:chgData name="Anil Srivastava" userId="d3a02ca0156b2808" providerId="LiveId" clId="{7F7547DE-3636-44E9-8969-7AD423854008}" dt="2025-11-03T14:42:42.619" v="665" actId="208"/>
        <pc:sldMkLst>
          <pc:docMk/>
          <pc:sldMk cId="4072934376" sldId="269"/>
        </pc:sldMkLst>
        <pc:spChg chg="mod">
          <ac:chgData name="Anil Srivastava" userId="d3a02ca0156b2808" providerId="LiveId" clId="{7F7547DE-3636-44E9-8969-7AD423854008}" dt="2025-11-03T14:37:17.876" v="628" actId="1076"/>
          <ac:spMkLst>
            <pc:docMk/>
            <pc:sldMk cId="4072934376" sldId="269"/>
            <ac:spMk id="2" creationId="{FC76970F-8DBD-F11F-21E6-E5D562824A52}"/>
          </ac:spMkLst>
        </pc:spChg>
        <pc:spChg chg="del mod">
          <ac:chgData name="Anil Srivastava" userId="d3a02ca0156b2808" providerId="LiveId" clId="{7F7547DE-3636-44E9-8969-7AD423854008}" dt="2025-11-03T14:23:31.201" v="534" actId="478"/>
          <ac:spMkLst>
            <pc:docMk/>
            <pc:sldMk cId="4072934376" sldId="269"/>
            <ac:spMk id="3" creationId="{FD05E0F6-D2C4-E54D-50B8-C57C496712FA}"/>
          </ac:spMkLst>
        </pc:spChg>
        <pc:picChg chg="add mod">
          <ac:chgData name="Anil Srivastava" userId="d3a02ca0156b2808" providerId="LiveId" clId="{7F7547DE-3636-44E9-8969-7AD423854008}" dt="2025-11-03T14:41:01.417" v="652" actId="1076"/>
          <ac:picMkLst>
            <pc:docMk/>
            <pc:sldMk cId="4072934376" sldId="269"/>
            <ac:picMk id="5" creationId="{370B881B-EAF9-30AB-6D54-CF2C46440C5A}"/>
          </ac:picMkLst>
        </pc:picChg>
        <pc:picChg chg="add mod">
          <ac:chgData name="Anil Srivastava" userId="d3a02ca0156b2808" providerId="LiveId" clId="{7F7547DE-3636-44E9-8969-7AD423854008}" dt="2025-11-03T14:40:53.415" v="651" actId="1076"/>
          <ac:picMkLst>
            <pc:docMk/>
            <pc:sldMk cId="4072934376" sldId="269"/>
            <ac:picMk id="7" creationId="{9632E0D3-B3EB-6F4C-D508-326FFB152EDC}"/>
          </ac:picMkLst>
        </pc:picChg>
        <pc:picChg chg="add mod">
          <ac:chgData name="Anil Srivastava" userId="d3a02ca0156b2808" providerId="LiveId" clId="{7F7547DE-3636-44E9-8969-7AD423854008}" dt="2025-11-03T14:41:06.250" v="653" actId="1076"/>
          <ac:picMkLst>
            <pc:docMk/>
            <pc:sldMk cId="4072934376" sldId="269"/>
            <ac:picMk id="9" creationId="{00081FC1-CA88-B601-83B5-B0E036DF020F}"/>
          </ac:picMkLst>
        </pc:picChg>
        <pc:picChg chg="add mod">
          <ac:chgData name="Anil Srivastava" userId="d3a02ca0156b2808" providerId="LiveId" clId="{7F7547DE-3636-44E9-8969-7AD423854008}" dt="2025-11-03T14:41:38.383" v="658" actId="14100"/>
          <ac:picMkLst>
            <pc:docMk/>
            <pc:sldMk cId="4072934376" sldId="269"/>
            <ac:picMk id="11" creationId="{F5299ACD-9D25-CA40-463C-FFDB539A5BAB}"/>
          </ac:picMkLst>
        </pc:picChg>
        <pc:picChg chg="add mod">
          <ac:chgData name="Anil Srivastava" userId="d3a02ca0156b2808" providerId="LiveId" clId="{7F7547DE-3636-44E9-8969-7AD423854008}" dt="2025-11-03T14:41:25.197" v="657" actId="1076"/>
          <ac:picMkLst>
            <pc:docMk/>
            <pc:sldMk cId="4072934376" sldId="269"/>
            <ac:picMk id="13" creationId="{E57B5529-A8B4-B131-A42B-DEDD473865BB}"/>
          </ac:picMkLst>
        </pc:picChg>
        <pc:picChg chg="add mod">
          <ac:chgData name="Anil Srivastava" userId="d3a02ca0156b2808" providerId="LiveId" clId="{7F7547DE-3636-44E9-8969-7AD423854008}" dt="2025-11-03T14:42:42.619" v="665" actId="208"/>
          <ac:picMkLst>
            <pc:docMk/>
            <pc:sldMk cId="4072934376" sldId="269"/>
            <ac:picMk id="15" creationId="{E9BD0089-9444-9351-CBF5-45ED9E884AB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96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team &amp; project brief</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team learning goal &amp; duration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problem &amp; key outcomes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authenticity of data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 each role &amp; teamwork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data preparation importance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Overview of dashboards created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64CC9-C138-7E76-1C32-FE5C255A2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A3808-6BB8-27AD-DBEB-1E6448537D0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0002936-74FC-2AC3-9D21-C4F03181F31E}"/>
              </a:ext>
            </a:extLst>
          </p:cNvPr>
          <p:cNvSpPr>
            <a:spLocks noGrp="1"/>
          </p:cNvSpPr>
          <p:nvPr>
            <p:ph type="body" sz="quarter" idx="3"/>
          </p:nvPr>
        </p:nvSpPr>
        <p:spPr/>
        <p:txBody>
          <a:bodyPr/>
          <a:lstStyle/>
          <a:p>
            <a:r>
              <a:t>Overview of dashboards created</a:t>
            </a:r>
          </a:p>
        </p:txBody>
      </p:sp>
      <p:sp>
        <p:nvSpPr>
          <p:cNvPr id="4" name="Slide Number Placeholder 3">
            <a:extLst>
              <a:ext uri="{FF2B5EF4-FFF2-40B4-BE49-F238E27FC236}">
                <a16:creationId xmlns:a16="http://schemas.microsoft.com/office/drawing/2014/main" id="{DAB1E337-0C58-1BE6-2EAB-43F18402BE3A}"/>
              </a:ext>
            </a:extLst>
          </p:cNvPr>
          <p:cNvSpPr>
            <a:spLocks noGrp="1"/>
          </p:cNvSpPr>
          <p:nvPr>
            <p:ph type="sldNum" sz="quarter" idx="5"/>
          </p:nvPr>
        </p:nvSpPr>
        <p:spPr/>
      </p:sp>
    </p:spTree>
    <p:extLst>
      <p:ext uri="{BB962C8B-B14F-4D97-AF65-F5344CB8AC3E}">
        <p14:creationId xmlns:p14="http://schemas.microsoft.com/office/powerpoint/2010/main" val="3655742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how obstacles were solved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main findings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Share skills gained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extension ideas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&amp; close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audience &amp; open for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194650"/>
          </a:xfrm>
        </p:spPr>
        <p:txBody>
          <a:bodyPr wrap="none" anchor="t">
            <a:normAutofit/>
          </a:bodyPr>
          <a:lstStyle>
            <a:lvl1pPr algn="r">
              <a:defRPr sz="7200" b="0" spc="-225">
                <a:gradFill flip="none" rotWithShape="1">
                  <a:gsLst>
                    <a:gs pos="32000">
                      <a:schemeClr val="tx1">
                        <a:lumMod val="89000"/>
                      </a:schemeClr>
                    </a:gs>
                    <a:gs pos="100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1657349" y="3829878"/>
            <a:ext cx="6858000" cy="618523"/>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3019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7946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194650"/>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640899" y="3829878"/>
            <a:ext cx="6858000" cy="617822"/>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6826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0000" y="1825625"/>
            <a:ext cx="3768912"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39880" y="1825625"/>
            <a:ext cx="377547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1497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40000" y="1681163"/>
            <a:ext cx="3768912" cy="823912"/>
          </a:xfrm>
        </p:spPr>
        <p:txBody>
          <a:bodyPr anchor="b">
            <a:normAutofit/>
          </a:bodyPr>
          <a:lstStyle>
            <a:lvl1pPr marL="0" indent="0">
              <a:buNone/>
              <a:defRPr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0000" y="2505075"/>
            <a:ext cx="376891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39880" y="1681163"/>
            <a:ext cx="3776661" cy="823912"/>
          </a:xfrm>
        </p:spPr>
        <p:txBody>
          <a:bodyPr vert="horz" lIns="91440" tIns="45720" rIns="91440" bIns="45720" rtlCol="0" anchor="b">
            <a:normAutofit/>
          </a:bodyPr>
          <a:lstStyle>
            <a:lvl1pPr>
              <a:buNone/>
              <a:defRPr lang="en-US"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4739880" y="2505075"/>
            <a:ext cx="377666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1209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938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987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78564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457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1"/>
            <a:ext cx="7886700" cy="819355"/>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1618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29841" y="4489399"/>
            <a:ext cx="7885509" cy="150182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9837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90919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en-US"/>
              <a:t>Click to edit Master title style</a:t>
            </a:r>
            <a:endParaRPr lang="en-US" dirty="0"/>
          </a:p>
        </p:txBody>
      </p:sp>
      <p:sp>
        <p:nvSpPr>
          <p:cNvPr id="4" name="Text Placeholder 3"/>
          <p:cNvSpPr>
            <a:spLocks noGrp="1"/>
          </p:cNvSpPr>
          <p:nvPr>
            <p:ph type="body" sz="half" idx="2"/>
          </p:nvPr>
        </p:nvSpPr>
        <p:spPr>
          <a:xfrm>
            <a:off x="629841" y="4850581"/>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984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6"/>
            <a:ext cx="78867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002961" y="1885950"/>
            <a:ext cx="2210150" cy="576262"/>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017598" y="2571750"/>
            <a:ext cx="21955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440996" y="1885950"/>
            <a:ext cx="2202181" cy="576262"/>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3433081" y="2571750"/>
            <a:ext cx="2210096"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71777" y="1885950"/>
            <a:ext cx="2199085" cy="576262"/>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5871777" y="2571750"/>
            <a:ext cx="219908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744697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6"/>
            <a:ext cx="78867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99064" y="4297503"/>
            <a:ext cx="2205038"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999064" y="2256354"/>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426748" y="4297503"/>
            <a:ext cx="2197894"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2256354"/>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425733" y="4873765"/>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53242" y="4297503"/>
            <a:ext cx="2199085"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53241" y="2256354"/>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2253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8911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2683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0000" y="1825625"/>
            <a:ext cx="76753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BCAD085-E8A6-8845-BD4E-CB4CCA059FC4}" type="datetimeFigureOut">
              <a:rPr lang="en-US" smtClean="0"/>
              <a:t>11/3/2025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55746922"/>
      </p:ext>
    </p:extLst>
  </p:cSld>
  <p:clrMap bg1="dk1" tx1="lt1" bg2="dk2" tx2="lt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 id="2147483852" r:id="rId13"/>
    <p:sldLayoutId id="2147483853" r:id="rId14"/>
    <p:sldLayoutId id="2147483854" r:id="rId15"/>
    <p:sldLayoutId id="2147483855" r:id="rId16"/>
    <p:sldLayoutId id="2147483856" r:id="rId17"/>
  </p:sldLayoutIdLst>
  <p:txStyles>
    <p:title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270"/>
            <a:ext cx="9144000" cy="1325563"/>
          </a:xfrm>
        </p:spPr>
        <p:txBody>
          <a:bodyPr>
            <a:normAutofit/>
          </a:bodyPr>
          <a:lstStyle/>
          <a:p>
            <a:pPr algn="ctr"/>
            <a:r>
              <a:rPr u="sng" dirty="0" err="1"/>
              <a:t>ElectViz</a:t>
            </a:r>
            <a:r>
              <a:rPr u="sng" dirty="0"/>
              <a:t> Election Data Visualization </a:t>
            </a:r>
            <a:r>
              <a:rPr lang="en-US" u="sng" dirty="0"/>
              <a:t>For Media</a:t>
            </a:r>
            <a:endParaRPr u="sng" dirty="0"/>
          </a:p>
        </p:txBody>
      </p:sp>
      <p:sp>
        <p:nvSpPr>
          <p:cNvPr id="3" name="Content Placeholder 2"/>
          <p:cNvSpPr>
            <a:spLocks noGrp="1"/>
          </p:cNvSpPr>
          <p:nvPr>
            <p:ph idx="1"/>
          </p:nvPr>
        </p:nvSpPr>
        <p:spPr>
          <a:xfrm>
            <a:off x="781050" y="1722280"/>
            <a:ext cx="7581900" cy="4349035"/>
          </a:xfrm>
        </p:spPr>
        <p:txBody>
          <a:bodyPr>
            <a:noAutofit/>
          </a:bodyPr>
          <a:lstStyle/>
          <a:p>
            <a:pPr algn="just">
              <a:buNone/>
            </a:pPr>
            <a:r>
              <a:rPr lang="en-IN" sz="2000" dirty="0">
                <a:latin typeface="Times New Roman" panose="02020603050405020304" pitchFamily="18" charset="0"/>
                <a:cs typeface="Times New Roman" panose="02020603050405020304" pitchFamily="18" charset="0"/>
              </a:rPr>
              <a:t>This project focuses on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Indian election data and presenting insights through an interactive Power BI dashboard. Our goal was to transform raw public election data into meaningful visual insights that can support media reporting, political analysis, and decision-making.</a:t>
            </a:r>
          </a:p>
          <a:p>
            <a:pPr algn="just">
              <a:buNone/>
            </a:pPr>
            <a:r>
              <a:rPr lang="en-IN" sz="2000" b="1" dirty="0">
                <a:latin typeface="Times New Roman" panose="02020603050405020304" pitchFamily="18" charset="0"/>
                <a:cs typeface="Times New Roman" panose="02020603050405020304" pitchFamily="18" charset="0"/>
              </a:rPr>
              <a:t>Team Members</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Arjun Srivastava</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Mayur Shivaji Raut</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Kotha Akshaya</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Srilakshmi Sowjanya</a:t>
            </a:r>
          </a:p>
          <a:p>
            <a:pPr algn="just">
              <a:buNone/>
            </a:pPr>
            <a:r>
              <a:rPr lang="en-IN" sz="2000" b="1" dirty="0">
                <a:latin typeface="Times New Roman" panose="02020603050405020304" pitchFamily="18" charset="0"/>
                <a:cs typeface="Times New Roman" panose="02020603050405020304" pitchFamily="18" charset="0"/>
              </a:rPr>
              <a:t>Tools Used</a:t>
            </a:r>
          </a:p>
          <a:p>
            <a:pPr algn="just">
              <a:buNone/>
            </a:pPr>
            <a:r>
              <a:rPr lang="en-IN" sz="2000" dirty="0">
                <a:latin typeface="Times New Roman" panose="02020603050405020304" pitchFamily="18" charset="0"/>
                <a:cs typeface="Times New Roman" panose="02020603050405020304" pitchFamily="18" charset="0"/>
              </a:rPr>
              <a:t>Power BI • Power Query • Excel/CSV • DAX Measures • Data </a:t>
            </a:r>
            <a:r>
              <a:rPr lang="en-IN" sz="2000" dirty="0" err="1">
                <a:latin typeface="Times New Roman" panose="02020603050405020304" pitchFamily="18" charset="0"/>
                <a:cs typeface="Times New Roman" panose="02020603050405020304" pitchFamily="18" charset="0"/>
              </a:rPr>
              <a:t>Modeling</a:t>
            </a:r>
            <a:r>
              <a:rPr lang="en-IN" sz="2000" dirty="0">
                <a:latin typeface="Times New Roman" panose="02020603050405020304" pitchFamily="18" charset="0"/>
                <a:cs typeface="Times New Roman" panose="02020603050405020304" pitchFamily="18" charset="0"/>
              </a:rPr>
              <a:t> Techniques</a:t>
            </a:r>
          </a:p>
          <a:p>
            <a:pPr marL="0" indent="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226"/>
            <a:ext cx="9144000" cy="1325563"/>
          </a:xfrm>
        </p:spPr>
        <p:txBody>
          <a:bodyPr/>
          <a:lstStyle/>
          <a:p>
            <a:pPr algn="ctr"/>
            <a:r>
              <a:rPr u="sng" dirty="0"/>
              <a:t>Team Introduction</a:t>
            </a:r>
          </a:p>
        </p:txBody>
      </p:sp>
      <p:sp>
        <p:nvSpPr>
          <p:cNvPr id="3" name="Content Placeholder 2"/>
          <p:cNvSpPr>
            <a:spLocks noGrp="1"/>
          </p:cNvSpPr>
          <p:nvPr>
            <p:ph idx="1"/>
          </p:nvPr>
        </p:nvSpPr>
        <p:spPr>
          <a:xfrm>
            <a:off x="1028700" y="1825625"/>
            <a:ext cx="7315200" cy="4351338"/>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We are a team passionate about data analytics, visualization, and decision intelligence. Through this project, we aimed to understand real-world electoral datasets, clean and model the data, and design dashboards that simplify complex election information.</a:t>
            </a:r>
          </a:p>
          <a:p>
            <a:pPr marL="0" indent="0">
              <a:buNone/>
            </a:pPr>
            <a:r>
              <a:rPr lang="en-IN" dirty="0">
                <a:latin typeface="Times New Roman" panose="02020603050405020304" pitchFamily="18" charset="0"/>
                <a:cs typeface="Times New Roman" panose="02020603050405020304" pitchFamily="18" charset="0"/>
              </a:rPr>
              <a:t>This project enhanced our skills in teamwork, analytical thinking, BI tool usage, and delivering insights for real-time decision-making.</a:t>
            </a:r>
          </a:p>
          <a:p>
            <a:pPr marL="0" indent="0">
              <a:buNone/>
            </a:pPr>
            <a:r>
              <a:rPr dirty="0">
                <a:latin typeface="Times New Roman" panose="02020603050405020304" pitchFamily="18" charset="0"/>
                <a:cs typeface="Times New Roman" panose="02020603050405020304" pitchFamily="18" charset="0"/>
              </a:rPr>
              <a:t>Project Duration: </a:t>
            </a:r>
            <a:r>
              <a:rPr lang="en-US" dirty="0">
                <a:latin typeface="Times New Roman" panose="02020603050405020304" pitchFamily="18" charset="0"/>
                <a:cs typeface="Times New Roman" panose="02020603050405020304" pitchFamily="18" charset="0"/>
              </a:rPr>
              <a:t>8 Weeks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255"/>
            <a:ext cx="9144000" cy="1325563"/>
          </a:xfrm>
        </p:spPr>
        <p:txBody>
          <a:bodyPr/>
          <a:lstStyle/>
          <a:p>
            <a:pPr algn="ctr"/>
            <a:r>
              <a:rPr u="sng" dirty="0"/>
              <a:t>Project Objective</a:t>
            </a:r>
          </a:p>
        </p:txBody>
      </p:sp>
      <p:sp>
        <p:nvSpPr>
          <p:cNvPr id="3" name="Content Placeholder 2"/>
          <p:cNvSpPr>
            <a:spLocks noGrp="1"/>
          </p:cNvSpPr>
          <p:nvPr>
            <p:ph idx="1"/>
          </p:nvPr>
        </p:nvSpPr>
        <p:spPr/>
        <p:txBody>
          <a:bodyPr>
            <a:normAutofit/>
          </a:bodyPr>
          <a:lstStyle/>
          <a:p>
            <a:pPr marL="0" indent="0">
              <a:buNone/>
            </a:pPr>
            <a:r>
              <a:rPr lang="en-IN" dirty="0">
                <a:latin typeface="Times New Roman" panose="02020603050405020304" pitchFamily="18" charset="0"/>
                <a:cs typeface="Times New Roman" panose="02020603050405020304" pitchFamily="18" charset="0"/>
              </a:rPr>
              <a:t>The objective of this project is to build a dynamic dashboard that enables viewers to interpret election data clearly. It allows media professionals and analysts to:</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Explore party performance across states</a:t>
            </a:r>
          </a:p>
          <a:p>
            <a:pPr>
              <a:buFont typeface="Wingdings" panose="05000000000000000000" pitchFamily="2" charset="2"/>
              <a:buChar char="§"/>
            </a:pP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demographic trends among candidates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Understand voter turnout and postal vote </a:t>
            </a:r>
            <a:r>
              <a:rPr lang="en-IN" dirty="0" err="1">
                <a:latin typeface="Times New Roman" panose="02020603050405020304" pitchFamily="18" charset="0"/>
                <a:cs typeface="Times New Roman" panose="02020603050405020304" pitchFamily="18" charset="0"/>
              </a:rPr>
              <a:t>behavior</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Compare candidate assets vs. criminal cases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Review winning insights at national and constituency level</a:t>
            </a:r>
          </a:p>
          <a:p>
            <a:pPr marL="0" indent="0">
              <a:buNone/>
            </a:pPr>
            <a:r>
              <a:rPr lang="en-IN" dirty="0">
                <a:latin typeface="Times New Roman" panose="02020603050405020304" pitchFamily="18" charset="0"/>
                <a:cs typeface="Times New Roman" panose="02020603050405020304" pitchFamily="18" charset="0"/>
              </a:rPr>
              <a:t>We converted public election datasets into interactive visuals that highlight electoral patterns and political insights.</a:t>
            </a:r>
          </a:p>
          <a:p>
            <a:pPr marL="0" indent="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255"/>
            <a:ext cx="9144000" cy="1325563"/>
          </a:xfrm>
        </p:spPr>
        <p:txBody>
          <a:bodyPr/>
          <a:lstStyle/>
          <a:p>
            <a:pPr algn="ctr"/>
            <a:r>
              <a:rPr u="sng" dirty="0"/>
              <a:t>Data Source</a:t>
            </a:r>
          </a:p>
        </p:txBody>
      </p:sp>
      <p:sp>
        <p:nvSpPr>
          <p:cNvPr id="3" name="Content Placeholder 2"/>
          <p:cNvSpPr>
            <a:spLocks noGrp="1"/>
          </p:cNvSpPr>
          <p:nvPr>
            <p:ph idx="1"/>
          </p:nvPr>
        </p:nvSpPr>
        <p:spPr/>
        <p:txBody>
          <a:bodyPr>
            <a:noAutofit/>
          </a:bodyPr>
          <a:lstStyle/>
          <a:p>
            <a:pPr marL="0" indent="0">
              <a:buNone/>
            </a:pPr>
            <a:r>
              <a:rPr lang="en-IN" sz="1600" b="1" dirty="0">
                <a:latin typeface="Times New Roman" panose="02020603050405020304" pitchFamily="18" charset="0"/>
                <a:cs typeface="Times New Roman" panose="02020603050405020304" pitchFamily="18" charset="0"/>
              </a:rPr>
              <a:t>Primary Source:</a:t>
            </a: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Election Commission of India official election data.</a:t>
            </a:r>
          </a:p>
          <a:p>
            <a:pPr marL="0" indent="0">
              <a:buNone/>
            </a:pPr>
            <a:r>
              <a:rPr lang="en-IN" sz="1600" b="1" dirty="0">
                <a:latin typeface="Times New Roman" panose="02020603050405020304" pitchFamily="18" charset="0"/>
                <a:cs typeface="Times New Roman" panose="02020603050405020304" pitchFamily="18" charset="0"/>
              </a:rPr>
              <a:t>Dataset Contents:</a:t>
            </a: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Candidate information (name, party, gender, education)</a:t>
            </a: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Constituency &amp; state mapping</a:t>
            </a: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Votes secured &amp; postal vote count</a:t>
            </a: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Candidate assets, liabilities &amp; criminal cases</a:t>
            </a: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Election result (win/loss, margin)</a:t>
            </a:r>
          </a:p>
          <a:p>
            <a:pPr>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This data was downloaded in CSV/Excel format and prepared for analytical use.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1325563"/>
          </a:xfrm>
        </p:spPr>
        <p:txBody>
          <a:bodyPr/>
          <a:lstStyle/>
          <a:p>
            <a:pPr algn="ctr"/>
            <a:r>
              <a:rPr u="sng" dirty="0"/>
              <a:t>Team Contribution</a:t>
            </a:r>
          </a:p>
        </p:txBody>
      </p:sp>
      <p:graphicFrame>
        <p:nvGraphicFramePr>
          <p:cNvPr id="4" name="Content Placeholder 3">
            <a:extLst>
              <a:ext uri="{FF2B5EF4-FFF2-40B4-BE49-F238E27FC236}">
                <a16:creationId xmlns:a16="http://schemas.microsoft.com/office/drawing/2014/main" id="{E534CD9E-3495-2CD9-0431-022B4CC1AF5D}"/>
              </a:ext>
            </a:extLst>
          </p:cNvPr>
          <p:cNvGraphicFramePr>
            <a:graphicFrameLocks noGrp="1"/>
          </p:cNvGraphicFramePr>
          <p:nvPr>
            <p:ph idx="1"/>
            <p:extLst>
              <p:ext uri="{D42A27DB-BD31-4B8C-83A1-F6EECF244321}">
                <p14:modId xmlns:p14="http://schemas.microsoft.com/office/powerpoint/2010/main" val="3212459109"/>
              </p:ext>
            </p:extLst>
          </p:nvPr>
        </p:nvGraphicFramePr>
        <p:xfrm>
          <a:off x="1172633" y="2259767"/>
          <a:ext cx="6798734" cy="4018490"/>
        </p:xfrm>
        <a:graphic>
          <a:graphicData uri="http://schemas.openxmlformats.org/drawingml/2006/table">
            <a:tbl>
              <a:tblPr/>
              <a:tblGrid>
                <a:gridCol w="3399367">
                  <a:extLst>
                    <a:ext uri="{9D8B030D-6E8A-4147-A177-3AD203B41FA5}">
                      <a16:colId xmlns:a16="http://schemas.microsoft.com/office/drawing/2014/main" val="2815569485"/>
                    </a:ext>
                  </a:extLst>
                </a:gridCol>
                <a:gridCol w="3399367">
                  <a:extLst>
                    <a:ext uri="{9D8B030D-6E8A-4147-A177-3AD203B41FA5}">
                      <a16:colId xmlns:a16="http://schemas.microsoft.com/office/drawing/2014/main" val="3583122672"/>
                    </a:ext>
                  </a:extLst>
                </a:gridCol>
              </a:tblGrid>
              <a:tr h="445958">
                <a:tc>
                  <a:txBody>
                    <a:bodyPr/>
                    <a:lstStyle/>
                    <a:p>
                      <a:pPr marL="0" indent="0" algn="ctr">
                        <a:buFont typeface="Wingdings" panose="05000000000000000000" pitchFamily="2" charset="2"/>
                        <a:buNone/>
                      </a:pPr>
                      <a:r>
                        <a:rPr lang="en-US" sz="2000" dirty="0">
                          <a:latin typeface="Times New Roman" panose="02020603050405020304" pitchFamily="18" charset="0"/>
                          <a:cs typeface="Times New Roman" panose="02020603050405020304" pitchFamily="18" charset="0"/>
                        </a:rPr>
                        <a:t>M</a:t>
                      </a:r>
                      <a:r>
                        <a:rPr lang="en-IN" sz="2000" dirty="0">
                          <a:latin typeface="Times New Roman" panose="02020603050405020304" pitchFamily="18" charset="0"/>
                          <a:cs typeface="Times New Roman" panose="02020603050405020304" pitchFamily="18" charset="0"/>
                        </a:rPr>
                        <a:t>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IN" sz="2000" dirty="0">
                          <a:latin typeface="Times New Roman" panose="02020603050405020304" pitchFamily="18" charset="0"/>
                          <a:cs typeface="Times New Roman" panose="02020603050405020304" pitchFamily="18" charset="0"/>
                        </a:rPr>
                        <a:t>Contribution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2544709"/>
                  </a:ext>
                </a:extLst>
              </a:tr>
              <a:tr h="780426">
                <a:tc>
                  <a:txBody>
                    <a:bodyPr/>
                    <a:lstStyle/>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Arjun Srivastava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Data cleaning, DAX, dashboard insights, final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1999033"/>
                  </a:ext>
                </a:extLst>
              </a:tr>
              <a:tr h="780426">
                <a:tc>
                  <a:txBody>
                    <a:bodyPr/>
                    <a:lstStyle/>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Mayur Shivaji Raut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Data collection, preprocessing, attribute mapping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4546937"/>
                  </a:ext>
                </a:extLst>
              </a:tr>
              <a:tr h="780426">
                <a:tc>
                  <a:txBody>
                    <a:bodyPr/>
                    <a:lstStyle/>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Kotha Akshaya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DAX measures, KPI setup, visual formatting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1787014"/>
                  </a:ext>
                </a:extLst>
              </a:tr>
              <a:tr h="780426">
                <a:tc>
                  <a:txBody>
                    <a:bodyPr/>
                    <a:lstStyle/>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Srilakshmi Sowjanya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Documentation, PPT design, testing &amp; improvements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234588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2226"/>
            <a:ext cx="7886700" cy="1325563"/>
          </a:xfrm>
        </p:spPr>
        <p:txBody>
          <a:bodyPr/>
          <a:lstStyle/>
          <a:p>
            <a:pPr algn="ctr"/>
            <a:r>
              <a:rPr u="sng" dirty="0"/>
              <a:t>Data Cleaning &amp; Processing</a:t>
            </a:r>
          </a:p>
        </p:txBody>
      </p:sp>
      <p:sp>
        <p:nvSpPr>
          <p:cNvPr id="3" name="Content Placeholder 2"/>
          <p:cNvSpPr>
            <a:spLocks noGrp="1"/>
          </p:cNvSpPr>
          <p:nvPr>
            <p:ph idx="1"/>
          </p:nvPr>
        </p:nvSpPr>
        <p:spPr/>
        <p:txBody>
          <a:bodyPr>
            <a:normAutofit/>
          </a:bodyPr>
          <a:lstStyle/>
          <a:p>
            <a:pPr marL="0" indent="0">
              <a:buNone/>
            </a:pPr>
            <a:r>
              <a:rPr lang="en-IN" dirty="0"/>
              <a:t>We ensured clean, consistent, and structured data through:</a:t>
            </a:r>
          </a:p>
          <a:p>
            <a:r>
              <a:rPr lang="en-IN" dirty="0"/>
              <a:t>Removing duplicates, blanks &amp; errors</a:t>
            </a:r>
          </a:p>
          <a:p>
            <a:r>
              <a:rPr lang="en-IN" dirty="0"/>
              <a:t>Standardizing party and state names</a:t>
            </a:r>
          </a:p>
          <a:p>
            <a:r>
              <a:rPr lang="en-IN" dirty="0"/>
              <a:t>Formatting numeric columns (assets, votes)</a:t>
            </a:r>
          </a:p>
          <a:p>
            <a:r>
              <a:rPr lang="en-IN" dirty="0"/>
              <a:t>Structuring dataset into fact &amp; dimension tables</a:t>
            </a:r>
          </a:p>
          <a:p>
            <a:r>
              <a:rPr lang="en-IN" dirty="0"/>
              <a:t>Validating data accuracy using cross-checks</a:t>
            </a:r>
          </a:p>
          <a:p>
            <a:pPr marL="0" indent="0">
              <a:buNone/>
            </a:pPr>
            <a:r>
              <a:rPr lang="en-IN" dirty="0"/>
              <a:t>This ensured reliable insights and smooth dashboard performance.</a:t>
            </a:r>
          </a:p>
          <a:p>
            <a:pPr marL="0" indent="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4325" y="0"/>
            <a:ext cx="7886700" cy="1325563"/>
          </a:xfrm>
        </p:spPr>
        <p:txBody>
          <a:bodyPr/>
          <a:lstStyle/>
          <a:p>
            <a:pPr algn="ctr"/>
            <a:r>
              <a:rPr u="sng" dirty="0"/>
              <a:t>Dashboard Highlights</a:t>
            </a:r>
          </a:p>
        </p:txBody>
      </p:sp>
      <p:sp>
        <p:nvSpPr>
          <p:cNvPr id="3" name="Content Placeholder 2"/>
          <p:cNvSpPr>
            <a:spLocks noGrp="1"/>
          </p:cNvSpPr>
          <p:nvPr>
            <p:ph idx="1"/>
          </p:nvPr>
        </p:nvSpPr>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Key Visuals Included:</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KPIs for total candidates, winners, average assets, average cases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State-wise vote distribution map</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Gender, age &amp; education breakdown</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Wealth vs criminal cases chart</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Party-wise performance and vote share</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Postal votes &amp; total votes insights</a:t>
            </a:r>
          </a:p>
          <a:p>
            <a:pPr marL="0" indent="0">
              <a:buNone/>
            </a:pPr>
            <a:r>
              <a:rPr lang="en-IN" dirty="0">
                <a:latin typeface="Times New Roman" panose="02020603050405020304" pitchFamily="18" charset="0"/>
                <a:cs typeface="Times New Roman" panose="02020603050405020304" pitchFamily="18" charset="0"/>
              </a:rPr>
              <a:t>The dashboard enables deep analysis through filters like State, Party, Category, Gender, and Education.</a:t>
            </a:r>
          </a:p>
          <a:p>
            <a:pPr marL="0" indent="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B799A-82AE-531C-BD59-BF5EA6E176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6970F-8DBD-F11F-21E6-E5D562824A52}"/>
              </a:ext>
            </a:extLst>
          </p:cNvPr>
          <p:cNvSpPr>
            <a:spLocks noGrp="1"/>
          </p:cNvSpPr>
          <p:nvPr>
            <p:ph type="title"/>
          </p:nvPr>
        </p:nvSpPr>
        <p:spPr>
          <a:xfrm>
            <a:off x="628650" y="-323850"/>
            <a:ext cx="7886700" cy="1325563"/>
          </a:xfrm>
        </p:spPr>
        <p:txBody>
          <a:bodyPr/>
          <a:lstStyle/>
          <a:p>
            <a:pPr algn="ctr"/>
            <a:r>
              <a:rPr u="sng" dirty="0"/>
              <a:t>Dashboard </a:t>
            </a:r>
            <a:r>
              <a:rPr lang="en-US" u="sng" dirty="0"/>
              <a:t>Screenshot</a:t>
            </a:r>
            <a:endParaRPr u="sng" dirty="0"/>
          </a:p>
        </p:txBody>
      </p:sp>
      <p:pic>
        <p:nvPicPr>
          <p:cNvPr id="5" name="Picture 4">
            <a:extLst>
              <a:ext uri="{FF2B5EF4-FFF2-40B4-BE49-F238E27FC236}">
                <a16:creationId xmlns:a16="http://schemas.microsoft.com/office/drawing/2014/main" id="{370B881B-EAF9-30AB-6D54-CF2C46440C5A}"/>
              </a:ext>
            </a:extLst>
          </p:cNvPr>
          <p:cNvPicPr>
            <a:picLocks noChangeAspect="1"/>
          </p:cNvPicPr>
          <p:nvPr/>
        </p:nvPicPr>
        <p:blipFill>
          <a:blip r:embed="rId3"/>
          <a:stretch>
            <a:fillRect/>
          </a:stretch>
        </p:blipFill>
        <p:spPr>
          <a:xfrm>
            <a:off x="951469" y="792164"/>
            <a:ext cx="3087132" cy="1732202"/>
          </a:xfrm>
          <a:prstGeom prst="rect">
            <a:avLst/>
          </a:prstGeom>
          <a:ln>
            <a:solidFill>
              <a:schemeClr val="tx1"/>
            </a:solidFill>
          </a:ln>
        </p:spPr>
      </p:pic>
      <p:pic>
        <p:nvPicPr>
          <p:cNvPr id="7" name="Picture 6">
            <a:extLst>
              <a:ext uri="{FF2B5EF4-FFF2-40B4-BE49-F238E27FC236}">
                <a16:creationId xmlns:a16="http://schemas.microsoft.com/office/drawing/2014/main" id="{9632E0D3-B3EB-6F4C-D508-326FFB152EDC}"/>
              </a:ext>
            </a:extLst>
          </p:cNvPr>
          <p:cNvPicPr>
            <a:picLocks noChangeAspect="1"/>
          </p:cNvPicPr>
          <p:nvPr/>
        </p:nvPicPr>
        <p:blipFill>
          <a:blip r:embed="rId4"/>
          <a:stretch>
            <a:fillRect/>
          </a:stretch>
        </p:blipFill>
        <p:spPr>
          <a:xfrm>
            <a:off x="4932632" y="792163"/>
            <a:ext cx="3087132" cy="1726357"/>
          </a:xfrm>
          <a:prstGeom prst="rect">
            <a:avLst/>
          </a:prstGeom>
          <a:ln>
            <a:solidFill>
              <a:schemeClr val="tx1"/>
            </a:solidFill>
          </a:ln>
        </p:spPr>
      </p:pic>
      <p:pic>
        <p:nvPicPr>
          <p:cNvPr id="9" name="Picture 8">
            <a:extLst>
              <a:ext uri="{FF2B5EF4-FFF2-40B4-BE49-F238E27FC236}">
                <a16:creationId xmlns:a16="http://schemas.microsoft.com/office/drawing/2014/main" id="{00081FC1-CA88-B601-83B5-B0E036DF020F}"/>
              </a:ext>
            </a:extLst>
          </p:cNvPr>
          <p:cNvPicPr>
            <a:picLocks noChangeAspect="1"/>
          </p:cNvPicPr>
          <p:nvPr/>
        </p:nvPicPr>
        <p:blipFill>
          <a:blip r:embed="rId5"/>
          <a:stretch>
            <a:fillRect/>
          </a:stretch>
        </p:blipFill>
        <p:spPr>
          <a:xfrm>
            <a:off x="949118" y="2918278"/>
            <a:ext cx="3089483" cy="1729929"/>
          </a:xfrm>
          <a:prstGeom prst="rect">
            <a:avLst/>
          </a:prstGeom>
          <a:ln>
            <a:solidFill>
              <a:schemeClr val="tx1"/>
            </a:solidFill>
          </a:ln>
        </p:spPr>
      </p:pic>
      <p:pic>
        <p:nvPicPr>
          <p:cNvPr id="11" name="Picture 10">
            <a:extLst>
              <a:ext uri="{FF2B5EF4-FFF2-40B4-BE49-F238E27FC236}">
                <a16:creationId xmlns:a16="http://schemas.microsoft.com/office/drawing/2014/main" id="{F5299ACD-9D25-CA40-463C-FFDB539A5BAB}"/>
              </a:ext>
            </a:extLst>
          </p:cNvPr>
          <p:cNvPicPr>
            <a:picLocks noChangeAspect="1"/>
          </p:cNvPicPr>
          <p:nvPr/>
        </p:nvPicPr>
        <p:blipFill>
          <a:blip r:embed="rId6"/>
          <a:stretch>
            <a:fillRect/>
          </a:stretch>
        </p:blipFill>
        <p:spPr>
          <a:xfrm>
            <a:off x="4930281" y="2918278"/>
            <a:ext cx="3087132" cy="1726357"/>
          </a:xfrm>
          <a:prstGeom prst="rect">
            <a:avLst/>
          </a:prstGeom>
          <a:ln>
            <a:solidFill>
              <a:schemeClr val="tx1"/>
            </a:solidFill>
          </a:ln>
        </p:spPr>
      </p:pic>
      <p:pic>
        <p:nvPicPr>
          <p:cNvPr id="13" name="Picture 12">
            <a:extLst>
              <a:ext uri="{FF2B5EF4-FFF2-40B4-BE49-F238E27FC236}">
                <a16:creationId xmlns:a16="http://schemas.microsoft.com/office/drawing/2014/main" id="{E57B5529-A8B4-B131-A42B-DEDD473865BB}"/>
              </a:ext>
            </a:extLst>
          </p:cNvPr>
          <p:cNvPicPr>
            <a:picLocks noChangeAspect="1"/>
          </p:cNvPicPr>
          <p:nvPr/>
        </p:nvPicPr>
        <p:blipFill>
          <a:blip r:embed="rId7"/>
          <a:stretch>
            <a:fillRect/>
          </a:stretch>
        </p:blipFill>
        <p:spPr>
          <a:xfrm>
            <a:off x="956169" y="5035431"/>
            <a:ext cx="3082432" cy="1725514"/>
          </a:xfrm>
          <a:prstGeom prst="rect">
            <a:avLst/>
          </a:prstGeom>
          <a:ln>
            <a:solidFill>
              <a:schemeClr val="tx1"/>
            </a:solidFill>
          </a:ln>
        </p:spPr>
      </p:pic>
      <p:pic>
        <p:nvPicPr>
          <p:cNvPr id="15" name="Picture 14">
            <a:extLst>
              <a:ext uri="{FF2B5EF4-FFF2-40B4-BE49-F238E27FC236}">
                <a16:creationId xmlns:a16="http://schemas.microsoft.com/office/drawing/2014/main" id="{E9BD0089-9444-9351-CBF5-45ED9E884AB9}"/>
              </a:ext>
            </a:extLst>
          </p:cNvPr>
          <p:cNvPicPr>
            <a:picLocks noChangeAspect="1"/>
          </p:cNvPicPr>
          <p:nvPr/>
        </p:nvPicPr>
        <p:blipFill>
          <a:blip r:embed="rId8"/>
          <a:stretch>
            <a:fillRect/>
          </a:stretch>
        </p:blipFill>
        <p:spPr>
          <a:xfrm>
            <a:off x="4937332" y="5044393"/>
            <a:ext cx="3082432" cy="1727295"/>
          </a:xfrm>
          <a:prstGeom prst="rect">
            <a:avLst/>
          </a:prstGeom>
          <a:ln>
            <a:solidFill>
              <a:schemeClr val="tx1"/>
            </a:solidFill>
          </a:ln>
        </p:spPr>
      </p:pic>
    </p:spTree>
    <p:extLst>
      <p:ext uri="{BB962C8B-B14F-4D97-AF65-F5344CB8AC3E}">
        <p14:creationId xmlns:p14="http://schemas.microsoft.com/office/powerpoint/2010/main" val="4072934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1325563"/>
          </a:xfrm>
        </p:spPr>
        <p:txBody>
          <a:bodyPr/>
          <a:lstStyle/>
          <a:p>
            <a:pPr algn="ctr"/>
            <a:r>
              <a:rPr u="sng" dirty="0"/>
              <a:t>Challenges Faced</a:t>
            </a:r>
          </a:p>
        </p:txBody>
      </p:sp>
      <p:graphicFrame>
        <p:nvGraphicFramePr>
          <p:cNvPr id="4" name="Content Placeholder 3">
            <a:extLst>
              <a:ext uri="{FF2B5EF4-FFF2-40B4-BE49-F238E27FC236}">
                <a16:creationId xmlns:a16="http://schemas.microsoft.com/office/drawing/2014/main" id="{7FCA51F8-D221-18E7-CCB9-8179B5BD89FC}"/>
              </a:ext>
            </a:extLst>
          </p:cNvPr>
          <p:cNvGraphicFramePr>
            <a:graphicFrameLocks noGrp="1"/>
          </p:cNvGraphicFramePr>
          <p:nvPr>
            <p:ph idx="1"/>
            <p:extLst>
              <p:ext uri="{D42A27DB-BD31-4B8C-83A1-F6EECF244321}">
                <p14:modId xmlns:p14="http://schemas.microsoft.com/office/powerpoint/2010/main" val="2779077188"/>
              </p:ext>
            </p:extLst>
          </p:nvPr>
        </p:nvGraphicFramePr>
        <p:xfrm>
          <a:off x="1176866" y="2308484"/>
          <a:ext cx="6799262" cy="3616334"/>
        </p:xfrm>
        <a:graphic>
          <a:graphicData uri="http://schemas.openxmlformats.org/drawingml/2006/table">
            <a:tbl>
              <a:tblPr/>
              <a:tblGrid>
                <a:gridCol w="3399631">
                  <a:extLst>
                    <a:ext uri="{9D8B030D-6E8A-4147-A177-3AD203B41FA5}">
                      <a16:colId xmlns:a16="http://schemas.microsoft.com/office/drawing/2014/main" val="1666693228"/>
                    </a:ext>
                  </a:extLst>
                </a:gridCol>
                <a:gridCol w="3399631">
                  <a:extLst>
                    <a:ext uri="{9D8B030D-6E8A-4147-A177-3AD203B41FA5}">
                      <a16:colId xmlns:a16="http://schemas.microsoft.com/office/drawing/2014/main" val="2481803741"/>
                    </a:ext>
                  </a:extLst>
                </a:gridCol>
              </a:tblGrid>
              <a:tr h="410518">
                <a:tc>
                  <a:txBody>
                    <a:bodyPr/>
                    <a:lstStyle/>
                    <a:p>
                      <a:pPr algn="ctr">
                        <a:buNone/>
                      </a:pPr>
                      <a:r>
                        <a:rPr lang="en-IN" sz="1800" dirty="0">
                          <a:latin typeface="Times New Roman" panose="02020603050405020304" pitchFamily="18" charset="0"/>
                          <a:cs typeface="Times New Roman" panose="02020603050405020304" pitchFamily="18" charset="0"/>
                        </a:rPr>
                        <a:t>Challenge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800" dirty="0">
                          <a:latin typeface="Times New Roman" panose="02020603050405020304" pitchFamily="18" charset="0"/>
                          <a:cs typeface="Times New Roman" panose="02020603050405020304" pitchFamily="18" charset="0"/>
                        </a:rPr>
                        <a:t>How We Solved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1441381"/>
                  </a:ext>
                </a:extLst>
              </a:tr>
              <a:tr h="718406">
                <a:tc>
                  <a:txBody>
                    <a:bodyPr/>
                    <a:lstStyle/>
                    <a:p>
                      <a:pPr>
                        <a:buNone/>
                      </a:pPr>
                      <a:r>
                        <a:rPr lang="en-IN" sz="1800" dirty="0">
                          <a:latin typeface="Times New Roman" panose="02020603050405020304" pitchFamily="18" charset="0"/>
                          <a:cs typeface="Times New Roman" panose="02020603050405020304" pitchFamily="18" charset="0"/>
                        </a:rPr>
                        <a:t>Raw dataset inconsistencies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Manual cleaning + Power Query transformations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7153207"/>
                  </a:ext>
                </a:extLst>
              </a:tr>
              <a:tr h="718406">
                <a:tc>
                  <a:txBody>
                    <a:bodyPr/>
                    <a:lstStyle/>
                    <a:p>
                      <a:pPr>
                        <a:buNone/>
                      </a:pPr>
                      <a:r>
                        <a:rPr lang="en-IN" sz="1800" dirty="0">
                          <a:latin typeface="Times New Roman" panose="02020603050405020304" pitchFamily="18" charset="0"/>
                          <a:cs typeface="Times New Roman" panose="02020603050405020304" pitchFamily="18" charset="0"/>
                        </a:rPr>
                        <a:t>Different name formats in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Applied uniform naming conventions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4661785"/>
                  </a:ext>
                </a:extLst>
              </a:tr>
              <a:tr h="617956">
                <a:tc>
                  <a:txBody>
                    <a:bodyPr/>
                    <a:lstStyle/>
                    <a:p>
                      <a:pPr>
                        <a:buNone/>
                      </a:pPr>
                      <a:r>
                        <a:rPr lang="en-IN" sz="1800" dirty="0">
                          <a:latin typeface="Times New Roman" panose="02020603050405020304" pitchFamily="18" charset="0"/>
                          <a:cs typeface="Times New Roman" panose="02020603050405020304" pitchFamily="18" charset="0"/>
                        </a:rPr>
                        <a:t>Complex DAX requirements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Built modular formulas step-by-step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4956991"/>
                  </a:ext>
                </a:extLst>
              </a:tr>
              <a:tr h="718406">
                <a:tc>
                  <a:txBody>
                    <a:bodyPr/>
                    <a:lstStyle/>
                    <a:p>
                      <a:pPr>
                        <a:buNone/>
                      </a:pPr>
                      <a:r>
                        <a:rPr lang="en-IN" sz="1800" dirty="0">
                          <a:latin typeface="Times New Roman" panose="02020603050405020304" pitchFamily="18" charset="0"/>
                          <a:cs typeface="Times New Roman" panose="02020603050405020304" pitchFamily="18" charset="0"/>
                        </a:rPr>
                        <a:t>Visual overcrowding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Followed BI design principles for clarity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4609884"/>
                  </a:ext>
                </a:extLst>
              </a:tr>
              <a:tr h="410518">
                <a:tc>
                  <a:txBody>
                    <a:bodyPr/>
                    <a:lstStyle/>
                    <a:p>
                      <a:pPr>
                        <a:buNone/>
                      </a:pPr>
                      <a:r>
                        <a:rPr lang="en-IN" sz="1800" dirty="0">
                          <a:latin typeface="Times New Roman" panose="02020603050405020304" pitchFamily="18" charset="0"/>
                          <a:cs typeface="Times New Roman" panose="02020603050405020304" pitchFamily="18" charset="0"/>
                        </a:rPr>
                        <a:t>Ensuring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Re-validated all numbers manually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868459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1325563"/>
          </a:xfrm>
        </p:spPr>
        <p:txBody>
          <a:bodyPr/>
          <a:lstStyle/>
          <a:p>
            <a:pPr algn="ctr"/>
            <a:r>
              <a:rPr u="sng" dirty="0"/>
              <a:t>Key Insights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Majority winning candidates were male</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Higher educational background linked with higher win success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Wealthier candidates had higher winning probability</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BJP won the maximum constituencies nationwide</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Some candidates with criminal cases still won</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Postal votes played a crucial role in selected states</a:t>
            </a:r>
          </a:p>
          <a:p>
            <a:pPr marL="0" indent="0">
              <a:buNone/>
            </a:pPr>
            <a:r>
              <a:rPr lang="en-IN" dirty="0">
                <a:latin typeface="Times New Roman" panose="02020603050405020304" pitchFamily="18" charset="0"/>
                <a:cs typeface="Times New Roman" panose="02020603050405020304" pitchFamily="18" charset="0"/>
              </a:rPr>
              <a:t>These findings support public understanding and media analysis of electoral trends</a:t>
            </a:r>
            <a:r>
              <a:rPr lang="en-IN" dirty="0"/>
              <a:t>.</a:t>
            </a:r>
          </a:p>
          <a:p>
            <a:pPr marL="0" indent="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255"/>
            <a:ext cx="7886700" cy="1325563"/>
          </a:xfrm>
        </p:spPr>
        <p:txBody>
          <a:bodyPr/>
          <a:lstStyle/>
          <a:p>
            <a:pPr algn="ctr"/>
            <a:r>
              <a:rPr u="sng" dirty="0"/>
              <a:t>Learning Outcomes</a:t>
            </a:r>
          </a:p>
        </p:txBody>
      </p:sp>
      <p:sp>
        <p:nvSpPr>
          <p:cNvPr id="3" name="Content Placeholder 2"/>
          <p:cNvSpPr>
            <a:spLocks noGrp="1"/>
          </p:cNvSpPr>
          <p:nvPr>
            <p:ph idx="1"/>
          </p:nvPr>
        </p:nvSpPr>
        <p:spPr/>
        <p:txBody>
          <a:bodyPr>
            <a:normAutofit/>
          </a:bodyPr>
          <a:lstStyle/>
          <a:p>
            <a:pPr marL="0" indent="0">
              <a:buNone/>
            </a:pPr>
            <a:r>
              <a:rPr lang="en-IN" dirty="0">
                <a:latin typeface="Times New Roman" panose="02020603050405020304" pitchFamily="18" charset="0"/>
                <a:cs typeface="Times New Roman" panose="02020603050405020304" pitchFamily="18" charset="0"/>
              </a:rPr>
              <a:t>Through this project, we learned:</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Practical Power BI dashboard development</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Data cleaning and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techniques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Importance of consistent data structure</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DAX formula building for performance metrics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Storytelling with data to ensure clarity</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Effective teamwork &amp; task management</a:t>
            </a:r>
          </a:p>
          <a:p>
            <a:pPr marL="0" indent="0">
              <a:buNone/>
            </a:pPr>
            <a:r>
              <a:rPr lang="en-IN" dirty="0">
                <a:latin typeface="Times New Roman" panose="02020603050405020304" pitchFamily="18" charset="0"/>
                <a:cs typeface="Times New Roman" panose="02020603050405020304" pitchFamily="18" charset="0"/>
              </a:rPr>
              <a:t>This experience improved both our technical and collaborative capabilities.</a:t>
            </a:r>
          </a:p>
          <a:p>
            <a:pPr marL="0" indent="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1325563"/>
          </a:xfrm>
        </p:spPr>
        <p:txBody>
          <a:bodyPr/>
          <a:lstStyle/>
          <a:p>
            <a:pPr algn="ctr"/>
            <a:r>
              <a:rPr u="sng" dirty="0"/>
              <a:t>Future Scope</a:t>
            </a:r>
          </a:p>
        </p:txBody>
      </p:sp>
      <p:sp>
        <p:nvSpPr>
          <p:cNvPr id="3" name="Content Placeholder 2"/>
          <p:cNvSpPr>
            <a:spLocks noGrp="1"/>
          </p:cNvSpPr>
          <p:nvPr>
            <p:ph idx="1"/>
          </p:nvPr>
        </p:nvSpPr>
        <p:spPr/>
        <p:txBody>
          <a:bodyPr>
            <a:normAutofit/>
          </a:bodyPr>
          <a:lstStyle/>
          <a:p>
            <a:pPr marL="0" indent="0">
              <a:buNone/>
            </a:pPr>
            <a:r>
              <a:rPr lang="en-IN" dirty="0">
                <a:latin typeface="Times New Roman" panose="02020603050405020304" pitchFamily="18" charset="0"/>
                <a:cs typeface="Times New Roman" panose="02020603050405020304" pitchFamily="18" charset="0"/>
              </a:rPr>
              <a:t>Possible improvements and extensions: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Real-time election updates using API integration</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Machine learning-based vote prediction model</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Web-based visualization hosting</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Mobile version of dashboard</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Sentiment analysis based on social media during elections</a:t>
            </a:r>
          </a:p>
          <a:p>
            <a:pPr marL="0" indent="0">
              <a:buNone/>
            </a:pPr>
            <a:r>
              <a:rPr lang="en-IN" dirty="0">
                <a:latin typeface="Times New Roman" panose="02020603050405020304" pitchFamily="18" charset="0"/>
                <a:cs typeface="Times New Roman" panose="02020603050405020304" pitchFamily="18" charset="0"/>
              </a:rPr>
              <a:t>These upgrades can make the model industry-ready.</a:t>
            </a:r>
          </a:p>
          <a:p>
            <a:pPr marL="0" indent="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1325563"/>
          </a:xfrm>
        </p:spPr>
        <p:txBody>
          <a:bodyPr/>
          <a:lstStyle/>
          <a:p>
            <a:pPr algn="ctr"/>
            <a:r>
              <a:rPr u="sng" dirty="0"/>
              <a:t>Conclusion</a:t>
            </a:r>
          </a:p>
        </p:txBody>
      </p:sp>
      <p:sp>
        <p:nvSpPr>
          <p:cNvPr id="3" name="Content Placeholder 2"/>
          <p:cNvSpPr>
            <a:spLocks noGrp="1"/>
          </p:cNvSpPr>
          <p:nvPr>
            <p:ph idx="1"/>
          </p:nvPr>
        </p:nvSpPr>
        <p:spPr/>
        <p:txBody>
          <a:bodyPr/>
          <a:lstStyle/>
          <a:p>
            <a:pPr marL="0" indent="0">
              <a:buNone/>
            </a:pPr>
            <a:r>
              <a:rPr lang="en-IN" dirty="0">
                <a:latin typeface="Times New Roman" panose="02020603050405020304" pitchFamily="18" charset="0"/>
                <a:cs typeface="Times New Roman" panose="02020603050405020304" pitchFamily="18" charset="0"/>
              </a:rPr>
              <a:t>This project successfully turned large-scale election data into interactive visual insights.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It strengthened our skills in data handling, BI tools, DAX, visualization, and professional reporting.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dashboard is a useful tool for political analysts, media personnel, and research purposes.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255"/>
            <a:ext cx="7886700" cy="1325563"/>
          </a:xfrm>
        </p:spPr>
        <p:txBody>
          <a:bodyPr/>
          <a:lstStyle/>
          <a:p>
            <a:pPr algn="ctr"/>
            <a:r>
              <a:rPr u="sng" dirty="0"/>
              <a:t>Thank You</a:t>
            </a:r>
          </a:p>
        </p:txBody>
      </p:sp>
      <p:sp>
        <p:nvSpPr>
          <p:cNvPr id="3" name="Content Placeholder 2"/>
          <p:cNvSpPr>
            <a:spLocks noGrp="1"/>
          </p:cNvSpPr>
          <p:nvPr>
            <p:ph idx="1"/>
          </p:nvPr>
        </p:nvSpPr>
        <p:spPr>
          <a:xfrm>
            <a:off x="840000" y="2488407"/>
            <a:ext cx="7675350" cy="4351338"/>
          </a:xfrm>
        </p:spPr>
        <p:txBody>
          <a:bodyPr/>
          <a:lstStyle/>
          <a:p>
            <a:pPr marL="0" indent="0" algn="ctr">
              <a:buNone/>
            </a:pPr>
            <a:r>
              <a:rPr lang="en-IN" b="1" dirty="0">
                <a:latin typeface="Times New Roman" panose="02020603050405020304" pitchFamily="18" charset="0"/>
                <a:cs typeface="Times New Roman" panose="02020603050405020304" pitchFamily="18" charset="0"/>
              </a:rPr>
              <a:t>Thank you for your time and attention!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We are happy to answer any questions or discuss the project further.</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Depth</Template>
  <TotalTime>179</TotalTime>
  <Words>790</Words>
  <Application>Microsoft Office PowerPoint</Application>
  <PresentationFormat>On-screen Show (4:3)</PresentationFormat>
  <Paragraphs>116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Corbel</vt:lpstr>
      <vt:lpstr>Times New Roman</vt:lpstr>
      <vt:lpstr>Wingdings</vt:lpstr>
      <vt:lpstr>Depth</vt:lpstr>
      <vt:lpstr>ElectViz Election Data Visualization For Media</vt:lpstr>
      <vt:lpstr>Team Introduction</vt:lpstr>
      <vt:lpstr>Project Objective</vt:lpstr>
      <vt:lpstr>Data Source</vt:lpstr>
      <vt:lpstr>Team Contribution</vt:lpstr>
      <vt:lpstr>Data Cleaning &amp; Processing</vt:lpstr>
      <vt:lpstr>Dashboard Highlights</vt:lpstr>
      <vt:lpstr>Dashboard Screenshot</vt:lpstr>
      <vt:lpstr>Challenges Faced</vt:lpstr>
      <vt:lpstr>Key Insights</vt:lpstr>
      <vt:lpstr>Learning Outcomes</vt:lpstr>
      <vt:lpstr>Future Scope</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Anil Srivastava</cp:lastModifiedBy>
  <cp:revision>1</cp:revision>
  <dcterms:created xsi:type="dcterms:W3CDTF">2013-01-27T09:14:16Z</dcterms:created>
  <dcterms:modified xsi:type="dcterms:W3CDTF">2025-11-03T14:50:24Z</dcterms:modified>
  <cp:category/>
</cp:coreProperties>
</file>